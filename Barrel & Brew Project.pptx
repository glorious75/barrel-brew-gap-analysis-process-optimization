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fntdata" ContentType="application/x-fontdata"/>
  <Default Extension="docx" ContentType="application/vnd.openxmlformats-officedocument.wordprocessingml.document"/>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2"/>
  </p:notesMasterIdLst>
  <p:sldIdLst>
    <p:sldId id="256" r:id="rId3"/>
    <p:sldId id="270" r:id="rId4"/>
    <p:sldId id="258" r:id="rId5"/>
    <p:sldId id="272" r:id="rId6"/>
    <p:sldId id="273" r:id="rId7"/>
    <p:sldId id="274" r:id="rId8"/>
    <p:sldId id="271" r:id="rId9"/>
    <p:sldId id="259" r:id="rId10"/>
    <p:sldId id="269" r:id="rId11"/>
  </p:sldIdLst>
  <p:sldSz cx="18288000" cy="10287000"/>
  <p:notesSz cx="6858000" cy="9144000"/>
  <p:embeddedFontLst>
    <p:embeddedFont>
      <p:font typeface="Georgia" panose="02040502050405020303" pitchFamily="18" charset="0"/>
      <p:regular r:id="rId13"/>
      <p:bold r:id="rId14"/>
      <p:italic r:id="rId15"/>
      <p:boldItalic r:id="rId16"/>
    </p:embeddedFont>
    <p:embeddedFont>
      <p:font typeface="Calibri" panose="020F0502020204030204" pitchFamily="34" charset="0"/>
      <p:regular r:id="rId17"/>
      <p:bold r:id="rId18"/>
      <p:italic r:id="rId19"/>
      <p:boldItalic r:id="rId20"/>
    </p:embeddedFont>
    <p:embeddedFont>
      <p:font typeface="Poppins" panose="020B0604020202020204" charset="0"/>
      <p:regular r:id="rId21"/>
      <p:bold r:id="rId22"/>
      <p:italic r:id="rId23"/>
      <p:boldItalic r:id="rId24"/>
    </p:embeddedFont>
    <p:embeddedFont>
      <p:font typeface="Play" panose="020B060402020202020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gesMk3vLeVWXLxL3b9pYGfeISwE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7" autoAdjust="0"/>
    <p:restoredTop sz="94660"/>
  </p:normalViewPr>
  <p:slideViewPr>
    <p:cSldViewPr snapToGrid="0">
      <p:cViewPr>
        <p:scale>
          <a:sx n="54" d="100"/>
          <a:sy n="54" d="100"/>
        </p:scale>
        <p:origin x="-174" y="-3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3" Type="http://schemas.openxmlformats.org/officeDocument/2006/relationships/slide" Target="slides/slide1.xml"/><Relationship Id="rId21" Type="http://schemas.openxmlformats.org/officeDocument/2006/relationships/font" Target="fonts/font9.fntdata"/><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font" Target="fonts/font8.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2.fntdata"/><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3.fntdata"/><Relationship Id="rId23" Type="http://schemas.openxmlformats.org/officeDocument/2006/relationships/font" Target="fonts/font11.fntdata"/><Relationship Id="rId10" Type="http://schemas.openxmlformats.org/officeDocument/2006/relationships/slide" Target="slides/slide8.xml"/><Relationship Id="rId19" Type="http://schemas.openxmlformats.org/officeDocument/2006/relationships/font" Target="fonts/font7.fntdata"/><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2.fntdata"/><Relationship Id="rId22" Type="http://schemas.openxmlformats.org/officeDocument/2006/relationships/font" Target="fonts/font10.fntdata"/><Relationship Id="rId30"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8690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164" name="Google Shape;16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0642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97" name="Google Shape;1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97" name="Google Shape;1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0566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97" name="Google Shape;1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21276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97" name="Google Shape;1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25748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dirty="0"/>
          </a:p>
        </p:txBody>
      </p:sp>
      <p:sp>
        <p:nvSpPr>
          <p:cNvPr id="197" name="Google Shape;1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78081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4" name="Google Shape;21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290" name="Google Shape;290;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2968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11"/>
          <p:cNvSpPr txBox="1">
            <a:spLocks noGrp="1"/>
          </p:cNvSpPr>
          <p:nvPr>
            <p:ph type="ctrTitle"/>
          </p:nvPr>
        </p:nvSpPr>
        <p:spPr>
          <a:xfrm>
            <a:off x="2286000" y="1683545"/>
            <a:ext cx="13716000" cy="35814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1"/>
          <p:cNvSpPr txBox="1">
            <a:spLocks noGrp="1"/>
          </p:cNvSpPr>
          <p:nvPr>
            <p:ph type="subTitle" idx="1"/>
          </p:nvPr>
        </p:nvSpPr>
        <p:spPr>
          <a:xfrm>
            <a:off x="2286000" y="5403057"/>
            <a:ext cx="13716000" cy="248364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500"/>
              </a:spcBef>
              <a:spcAft>
                <a:spcPts val="0"/>
              </a:spcAft>
              <a:buClr>
                <a:schemeClr val="dk1"/>
              </a:buClr>
              <a:buSzPts val="2400"/>
              <a:buNone/>
              <a:defRPr sz="3600"/>
            </a:lvl1pPr>
            <a:lvl2pPr lvl="1" algn="ctr">
              <a:lnSpc>
                <a:spcPct val="90000"/>
              </a:lnSpc>
              <a:spcBef>
                <a:spcPts val="750"/>
              </a:spcBef>
              <a:spcAft>
                <a:spcPts val="0"/>
              </a:spcAft>
              <a:buClr>
                <a:schemeClr val="dk1"/>
              </a:buClr>
              <a:buSzPts val="2000"/>
              <a:buNone/>
              <a:defRPr sz="3000"/>
            </a:lvl2pPr>
            <a:lvl3pPr lvl="2" algn="ctr">
              <a:lnSpc>
                <a:spcPct val="90000"/>
              </a:lnSpc>
              <a:spcBef>
                <a:spcPts val="750"/>
              </a:spcBef>
              <a:spcAft>
                <a:spcPts val="0"/>
              </a:spcAft>
              <a:buClr>
                <a:schemeClr val="dk1"/>
              </a:buClr>
              <a:buSzPts val="1800"/>
              <a:buNone/>
              <a:defRPr sz="2700"/>
            </a:lvl3pPr>
            <a:lvl4pPr lvl="3" algn="ctr">
              <a:lnSpc>
                <a:spcPct val="90000"/>
              </a:lnSpc>
              <a:spcBef>
                <a:spcPts val="750"/>
              </a:spcBef>
              <a:spcAft>
                <a:spcPts val="0"/>
              </a:spcAft>
              <a:buClr>
                <a:schemeClr val="dk1"/>
              </a:buClr>
              <a:buSzPts val="1600"/>
              <a:buNone/>
              <a:defRPr sz="2400"/>
            </a:lvl4pPr>
            <a:lvl5pPr lvl="4" algn="ctr">
              <a:lnSpc>
                <a:spcPct val="90000"/>
              </a:lnSpc>
              <a:spcBef>
                <a:spcPts val="750"/>
              </a:spcBef>
              <a:spcAft>
                <a:spcPts val="0"/>
              </a:spcAft>
              <a:buClr>
                <a:schemeClr val="dk1"/>
              </a:buClr>
              <a:buSzPts val="1600"/>
              <a:buNone/>
              <a:defRPr sz="2400"/>
            </a:lvl5pPr>
            <a:lvl6pPr lvl="5" algn="ctr">
              <a:lnSpc>
                <a:spcPct val="90000"/>
              </a:lnSpc>
              <a:spcBef>
                <a:spcPts val="750"/>
              </a:spcBef>
              <a:spcAft>
                <a:spcPts val="0"/>
              </a:spcAft>
              <a:buClr>
                <a:schemeClr val="dk1"/>
              </a:buClr>
              <a:buSzPts val="1600"/>
              <a:buNone/>
              <a:defRPr sz="2400"/>
            </a:lvl6pPr>
            <a:lvl7pPr lvl="6" algn="ctr">
              <a:lnSpc>
                <a:spcPct val="90000"/>
              </a:lnSpc>
              <a:spcBef>
                <a:spcPts val="750"/>
              </a:spcBef>
              <a:spcAft>
                <a:spcPts val="0"/>
              </a:spcAft>
              <a:buClr>
                <a:schemeClr val="dk1"/>
              </a:buClr>
              <a:buSzPts val="1600"/>
              <a:buNone/>
              <a:defRPr sz="2400"/>
            </a:lvl7pPr>
            <a:lvl8pPr lvl="7" algn="ctr">
              <a:lnSpc>
                <a:spcPct val="90000"/>
              </a:lnSpc>
              <a:spcBef>
                <a:spcPts val="750"/>
              </a:spcBef>
              <a:spcAft>
                <a:spcPts val="0"/>
              </a:spcAft>
              <a:buClr>
                <a:schemeClr val="dk1"/>
              </a:buClr>
              <a:buSzPts val="1600"/>
              <a:buNone/>
              <a:defRPr sz="2400"/>
            </a:lvl8pPr>
            <a:lvl9pPr lvl="8" algn="ctr">
              <a:lnSpc>
                <a:spcPct val="90000"/>
              </a:lnSpc>
              <a:spcBef>
                <a:spcPts val="750"/>
              </a:spcBef>
              <a:spcAft>
                <a:spcPts val="0"/>
              </a:spcAft>
              <a:buClr>
                <a:schemeClr val="dk1"/>
              </a:buClr>
              <a:buSzPts val="1600"/>
              <a:buNone/>
              <a:defRPr sz="2400"/>
            </a:lvl9pPr>
          </a:lstStyle>
          <a:p>
            <a:endParaRPr/>
          </a:p>
        </p:txBody>
      </p:sp>
      <p:sp>
        <p:nvSpPr>
          <p:cNvPr id="21" name="Google Shape;21;p11"/>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22" name="Google Shape;22;p11"/>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23" name="Google Shape;23;p11"/>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4"/>
        <p:cNvGrpSpPr/>
        <p:nvPr/>
      </p:nvGrpSpPr>
      <p:grpSpPr>
        <a:xfrm>
          <a:off x="0" y="0"/>
          <a:ext cx="0" cy="0"/>
          <a:chOff x="0" y="0"/>
          <a:chExt cx="0" cy="0"/>
        </a:xfrm>
      </p:grpSpPr>
      <p:sp>
        <p:nvSpPr>
          <p:cNvPr id="25" name="Google Shape;25;p24"/>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26" name="Google Shape;26;p24"/>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27" name="Google Shape;27;p24"/>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25"/>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5"/>
          <p:cNvSpPr txBox="1">
            <a:spLocks noGrp="1"/>
          </p:cNvSpPr>
          <p:nvPr>
            <p:ph type="body" idx="1"/>
          </p:nvPr>
        </p:nvSpPr>
        <p:spPr>
          <a:xfrm>
            <a:off x="1257300" y="2738438"/>
            <a:ext cx="15773400" cy="652700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00"/>
              </a:spcBef>
              <a:spcAft>
                <a:spcPts val="0"/>
              </a:spcAft>
              <a:buClr>
                <a:schemeClr val="dk1"/>
              </a:buClr>
              <a:buSzPts val="1800"/>
              <a:buChar char="•"/>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31" name="Google Shape;31;p25"/>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32" name="Google Shape;32;p25"/>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33" name="Google Shape;33;p25"/>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6"/>
          <p:cNvSpPr txBox="1">
            <a:spLocks noGrp="1"/>
          </p:cNvSpPr>
          <p:nvPr>
            <p:ph type="title"/>
          </p:nvPr>
        </p:nvSpPr>
        <p:spPr>
          <a:xfrm>
            <a:off x="1247775" y="2564608"/>
            <a:ext cx="15773400" cy="427910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6"/>
          <p:cNvSpPr txBox="1">
            <a:spLocks noGrp="1"/>
          </p:cNvSpPr>
          <p:nvPr>
            <p:ph type="body" idx="1"/>
          </p:nvPr>
        </p:nvSpPr>
        <p:spPr>
          <a:xfrm>
            <a:off x="1247775" y="6884195"/>
            <a:ext cx="15773400" cy="225028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00"/>
              </a:spcBef>
              <a:spcAft>
                <a:spcPts val="0"/>
              </a:spcAft>
              <a:buClr>
                <a:srgbClr val="757575"/>
              </a:buClr>
              <a:buSzPts val="2400"/>
              <a:buNone/>
              <a:defRPr sz="3600">
                <a:solidFill>
                  <a:srgbClr val="757575"/>
                </a:solidFill>
              </a:defRPr>
            </a:lvl1pPr>
            <a:lvl2pPr marL="914400" lvl="1" indent="-228600" algn="l">
              <a:lnSpc>
                <a:spcPct val="90000"/>
              </a:lnSpc>
              <a:spcBef>
                <a:spcPts val="750"/>
              </a:spcBef>
              <a:spcAft>
                <a:spcPts val="0"/>
              </a:spcAft>
              <a:buClr>
                <a:srgbClr val="757575"/>
              </a:buClr>
              <a:buSzPts val="2000"/>
              <a:buNone/>
              <a:defRPr sz="3000">
                <a:solidFill>
                  <a:srgbClr val="757575"/>
                </a:solidFill>
              </a:defRPr>
            </a:lvl2pPr>
            <a:lvl3pPr marL="1371600" lvl="2" indent="-228600" algn="l">
              <a:lnSpc>
                <a:spcPct val="90000"/>
              </a:lnSpc>
              <a:spcBef>
                <a:spcPts val="750"/>
              </a:spcBef>
              <a:spcAft>
                <a:spcPts val="0"/>
              </a:spcAft>
              <a:buClr>
                <a:srgbClr val="757575"/>
              </a:buClr>
              <a:buSzPts val="1800"/>
              <a:buNone/>
              <a:defRPr sz="2700">
                <a:solidFill>
                  <a:srgbClr val="757575"/>
                </a:solidFill>
              </a:defRPr>
            </a:lvl3pPr>
            <a:lvl4pPr marL="1828800" lvl="3" indent="-228600" algn="l">
              <a:lnSpc>
                <a:spcPct val="90000"/>
              </a:lnSpc>
              <a:spcBef>
                <a:spcPts val="750"/>
              </a:spcBef>
              <a:spcAft>
                <a:spcPts val="0"/>
              </a:spcAft>
              <a:buClr>
                <a:srgbClr val="757575"/>
              </a:buClr>
              <a:buSzPts val="1600"/>
              <a:buNone/>
              <a:defRPr sz="2400">
                <a:solidFill>
                  <a:srgbClr val="757575"/>
                </a:solidFill>
              </a:defRPr>
            </a:lvl4pPr>
            <a:lvl5pPr marL="2286000" lvl="4" indent="-228600" algn="l">
              <a:lnSpc>
                <a:spcPct val="90000"/>
              </a:lnSpc>
              <a:spcBef>
                <a:spcPts val="750"/>
              </a:spcBef>
              <a:spcAft>
                <a:spcPts val="0"/>
              </a:spcAft>
              <a:buClr>
                <a:srgbClr val="757575"/>
              </a:buClr>
              <a:buSzPts val="1600"/>
              <a:buNone/>
              <a:defRPr sz="2400">
                <a:solidFill>
                  <a:srgbClr val="757575"/>
                </a:solidFill>
              </a:defRPr>
            </a:lvl5pPr>
            <a:lvl6pPr marL="2743200" lvl="5" indent="-228600" algn="l">
              <a:lnSpc>
                <a:spcPct val="90000"/>
              </a:lnSpc>
              <a:spcBef>
                <a:spcPts val="750"/>
              </a:spcBef>
              <a:spcAft>
                <a:spcPts val="0"/>
              </a:spcAft>
              <a:buClr>
                <a:srgbClr val="757575"/>
              </a:buClr>
              <a:buSzPts val="1600"/>
              <a:buNone/>
              <a:defRPr sz="2400">
                <a:solidFill>
                  <a:srgbClr val="757575"/>
                </a:solidFill>
              </a:defRPr>
            </a:lvl6pPr>
            <a:lvl7pPr marL="3200400" lvl="6" indent="-228600" algn="l">
              <a:lnSpc>
                <a:spcPct val="90000"/>
              </a:lnSpc>
              <a:spcBef>
                <a:spcPts val="750"/>
              </a:spcBef>
              <a:spcAft>
                <a:spcPts val="0"/>
              </a:spcAft>
              <a:buClr>
                <a:srgbClr val="757575"/>
              </a:buClr>
              <a:buSzPts val="1600"/>
              <a:buNone/>
              <a:defRPr sz="2400">
                <a:solidFill>
                  <a:srgbClr val="757575"/>
                </a:solidFill>
              </a:defRPr>
            </a:lvl7pPr>
            <a:lvl8pPr marL="3657600" lvl="7" indent="-228600" algn="l">
              <a:lnSpc>
                <a:spcPct val="90000"/>
              </a:lnSpc>
              <a:spcBef>
                <a:spcPts val="750"/>
              </a:spcBef>
              <a:spcAft>
                <a:spcPts val="0"/>
              </a:spcAft>
              <a:buClr>
                <a:srgbClr val="757575"/>
              </a:buClr>
              <a:buSzPts val="1600"/>
              <a:buNone/>
              <a:defRPr sz="2400">
                <a:solidFill>
                  <a:srgbClr val="757575"/>
                </a:solidFill>
              </a:defRPr>
            </a:lvl8pPr>
            <a:lvl9pPr marL="4114800" lvl="8" indent="-228600" algn="l">
              <a:lnSpc>
                <a:spcPct val="90000"/>
              </a:lnSpc>
              <a:spcBef>
                <a:spcPts val="750"/>
              </a:spcBef>
              <a:spcAft>
                <a:spcPts val="0"/>
              </a:spcAft>
              <a:buClr>
                <a:srgbClr val="757575"/>
              </a:buClr>
              <a:buSzPts val="1600"/>
              <a:buNone/>
              <a:defRPr sz="2400">
                <a:solidFill>
                  <a:srgbClr val="757575"/>
                </a:solidFill>
              </a:defRPr>
            </a:lvl9pPr>
          </a:lstStyle>
          <a:p>
            <a:endParaRPr/>
          </a:p>
        </p:txBody>
      </p:sp>
      <p:sp>
        <p:nvSpPr>
          <p:cNvPr id="37" name="Google Shape;37;p26"/>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38" name="Google Shape;38;p26"/>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39" name="Google Shape;39;p26"/>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7"/>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body" idx="1"/>
          </p:nvPr>
        </p:nvSpPr>
        <p:spPr>
          <a:xfrm>
            <a:off x="1257300" y="2738438"/>
            <a:ext cx="7772400" cy="652700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00"/>
              </a:spcBef>
              <a:spcAft>
                <a:spcPts val="0"/>
              </a:spcAft>
              <a:buClr>
                <a:schemeClr val="dk1"/>
              </a:buClr>
              <a:buSzPts val="1800"/>
              <a:buChar char="•"/>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43" name="Google Shape;43;p27"/>
          <p:cNvSpPr txBox="1">
            <a:spLocks noGrp="1"/>
          </p:cNvSpPr>
          <p:nvPr>
            <p:ph type="body" idx="2"/>
          </p:nvPr>
        </p:nvSpPr>
        <p:spPr>
          <a:xfrm>
            <a:off x="9258300" y="2738438"/>
            <a:ext cx="7772400" cy="6527007"/>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00"/>
              </a:spcBef>
              <a:spcAft>
                <a:spcPts val="0"/>
              </a:spcAft>
              <a:buClr>
                <a:schemeClr val="dk1"/>
              </a:buClr>
              <a:buSzPts val="1800"/>
              <a:buChar char="•"/>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44" name="Google Shape;44;p27"/>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45" name="Google Shape;45;p27"/>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46" name="Google Shape;46;p27"/>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8"/>
          <p:cNvSpPr txBox="1">
            <a:spLocks noGrp="1"/>
          </p:cNvSpPr>
          <p:nvPr>
            <p:ph type="title"/>
          </p:nvPr>
        </p:nvSpPr>
        <p:spPr>
          <a:xfrm>
            <a:off x="1259682"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8"/>
          <p:cNvSpPr txBox="1">
            <a:spLocks noGrp="1"/>
          </p:cNvSpPr>
          <p:nvPr>
            <p:ph type="body" idx="1"/>
          </p:nvPr>
        </p:nvSpPr>
        <p:spPr>
          <a:xfrm>
            <a:off x="1259683" y="2521745"/>
            <a:ext cx="7736681" cy="123586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500"/>
              </a:spcBef>
              <a:spcAft>
                <a:spcPts val="0"/>
              </a:spcAft>
              <a:buClr>
                <a:schemeClr val="dk1"/>
              </a:buClr>
              <a:buSzPts val="2400"/>
              <a:buNone/>
              <a:defRPr sz="3600" b="1"/>
            </a:lvl1pPr>
            <a:lvl2pPr marL="914400" lvl="1" indent="-228600" algn="l">
              <a:lnSpc>
                <a:spcPct val="90000"/>
              </a:lnSpc>
              <a:spcBef>
                <a:spcPts val="750"/>
              </a:spcBef>
              <a:spcAft>
                <a:spcPts val="0"/>
              </a:spcAft>
              <a:buClr>
                <a:schemeClr val="dk1"/>
              </a:buClr>
              <a:buSzPts val="2000"/>
              <a:buNone/>
              <a:defRPr sz="3000" b="1"/>
            </a:lvl2pPr>
            <a:lvl3pPr marL="1371600" lvl="2" indent="-228600" algn="l">
              <a:lnSpc>
                <a:spcPct val="90000"/>
              </a:lnSpc>
              <a:spcBef>
                <a:spcPts val="750"/>
              </a:spcBef>
              <a:spcAft>
                <a:spcPts val="0"/>
              </a:spcAft>
              <a:buClr>
                <a:schemeClr val="dk1"/>
              </a:buClr>
              <a:buSzPts val="1800"/>
              <a:buNone/>
              <a:defRPr sz="2700" b="1"/>
            </a:lvl3pPr>
            <a:lvl4pPr marL="1828800" lvl="3" indent="-228600" algn="l">
              <a:lnSpc>
                <a:spcPct val="90000"/>
              </a:lnSpc>
              <a:spcBef>
                <a:spcPts val="750"/>
              </a:spcBef>
              <a:spcAft>
                <a:spcPts val="0"/>
              </a:spcAft>
              <a:buClr>
                <a:schemeClr val="dk1"/>
              </a:buClr>
              <a:buSzPts val="1600"/>
              <a:buNone/>
              <a:defRPr sz="2400" b="1"/>
            </a:lvl4pPr>
            <a:lvl5pPr marL="2286000" lvl="4" indent="-228600" algn="l">
              <a:lnSpc>
                <a:spcPct val="90000"/>
              </a:lnSpc>
              <a:spcBef>
                <a:spcPts val="750"/>
              </a:spcBef>
              <a:spcAft>
                <a:spcPts val="0"/>
              </a:spcAft>
              <a:buClr>
                <a:schemeClr val="dk1"/>
              </a:buClr>
              <a:buSzPts val="1600"/>
              <a:buNone/>
              <a:defRPr sz="2400" b="1"/>
            </a:lvl5pPr>
            <a:lvl6pPr marL="2743200" lvl="5" indent="-228600" algn="l">
              <a:lnSpc>
                <a:spcPct val="90000"/>
              </a:lnSpc>
              <a:spcBef>
                <a:spcPts val="750"/>
              </a:spcBef>
              <a:spcAft>
                <a:spcPts val="0"/>
              </a:spcAft>
              <a:buClr>
                <a:schemeClr val="dk1"/>
              </a:buClr>
              <a:buSzPts val="1600"/>
              <a:buNone/>
              <a:defRPr sz="2400" b="1"/>
            </a:lvl6pPr>
            <a:lvl7pPr marL="3200400" lvl="6" indent="-228600" algn="l">
              <a:lnSpc>
                <a:spcPct val="90000"/>
              </a:lnSpc>
              <a:spcBef>
                <a:spcPts val="750"/>
              </a:spcBef>
              <a:spcAft>
                <a:spcPts val="0"/>
              </a:spcAft>
              <a:buClr>
                <a:schemeClr val="dk1"/>
              </a:buClr>
              <a:buSzPts val="1600"/>
              <a:buNone/>
              <a:defRPr sz="2400" b="1"/>
            </a:lvl7pPr>
            <a:lvl8pPr marL="3657600" lvl="7" indent="-228600" algn="l">
              <a:lnSpc>
                <a:spcPct val="90000"/>
              </a:lnSpc>
              <a:spcBef>
                <a:spcPts val="750"/>
              </a:spcBef>
              <a:spcAft>
                <a:spcPts val="0"/>
              </a:spcAft>
              <a:buClr>
                <a:schemeClr val="dk1"/>
              </a:buClr>
              <a:buSzPts val="1600"/>
              <a:buNone/>
              <a:defRPr sz="2400" b="1"/>
            </a:lvl8pPr>
            <a:lvl9pPr marL="4114800" lvl="8" indent="-228600" algn="l">
              <a:lnSpc>
                <a:spcPct val="90000"/>
              </a:lnSpc>
              <a:spcBef>
                <a:spcPts val="750"/>
              </a:spcBef>
              <a:spcAft>
                <a:spcPts val="0"/>
              </a:spcAft>
              <a:buClr>
                <a:schemeClr val="dk1"/>
              </a:buClr>
              <a:buSzPts val="1600"/>
              <a:buNone/>
              <a:defRPr sz="2400" b="1"/>
            </a:lvl9pPr>
          </a:lstStyle>
          <a:p>
            <a:endParaRPr/>
          </a:p>
        </p:txBody>
      </p:sp>
      <p:sp>
        <p:nvSpPr>
          <p:cNvPr id="50" name="Google Shape;50;p28"/>
          <p:cNvSpPr txBox="1">
            <a:spLocks noGrp="1"/>
          </p:cNvSpPr>
          <p:nvPr>
            <p:ph type="body" idx="2"/>
          </p:nvPr>
        </p:nvSpPr>
        <p:spPr>
          <a:xfrm>
            <a:off x="1259683" y="3757613"/>
            <a:ext cx="7736681" cy="55268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00"/>
              </a:spcBef>
              <a:spcAft>
                <a:spcPts val="0"/>
              </a:spcAft>
              <a:buClr>
                <a:schemeClr val="dk1"/>
              </a:buClr>
              <a:buSzPts val="1800"/>
              <a:buChar char="•"/>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51" name="Google Shape;51;p28"/>
          <p:cNvSpPr txBox="1">
            <a:spLocks noGrp="1"/>
          </p:cNvSpPr>
          <p:nvPr>
            <p:ph type="body" idx="3"/>
          </p:nvPr>
        </p:nvSpPr>
        <p:spPr>
          <a:xfrm>
            <a:off x="9258300" y="2521745"/>
            <a:ext cx="7774782" cy="123586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500"/>
              </a:spcBef>
              <a:spcAft>
                <a:spcPts val="0"/>
              </a:spcAft>
              <a:buClr>
                <a:schemeClr val="dk1"/>
              </a:buClr>
              <a:buSzPts val="2400"/>
              <a:buNone/>
              <a:defRPr sz="3600" b="1"/>
            </a:lvl1pPr>
            <a:lvl2pPr marL="914400" lvl="1" indent="-228600" algn="l">
              <a:lnSpc>
                <a:spcPct val="90000"/>
              </a:lnSpc>
              <a:spcBef>
                <a:spcPts val="750"/>
              </a:spcBef>
              <a:spcAft>
                <a:spcPts val="0"/>
              </a:spcAft>
              <a:buClr>
                <a:schemeClr val="dk1"/>
              </a:buClr>
              <a:buSzPts val="2000"/>
              <a:buNone/>
              <a:defRPr sz="3000" b="1"/>
            </a:lvl2pPr>
            <a:lvl3pPr marL="1371600" lvl="2" indent="-228600" algn="l">
              <a:lnSpc>
                <a:spcPct val="90000"/>
              </a:lnSpc>
              <a:spcBef>
                <a:spcPts val="750"/>
              </a:spcBef>
              <a:spcAft>
                <a:spcPts val="0"/>
              </a:spcAft>
              <a:buClr>
                <a:schemeClr val="dk1"/>
              </a:buClr>
              <a:buSzPts val="1800"/>
              <a:buNone/>
              <a:defRPr sz="2700" b="1"/>
            </a:lvl3pPr>
            <a:lvl4pPr marL="1828800" lvl="3" indent="-228600" algn="l">
              <a:lnSpc>
                <a:spcPct val="90000"/>
              </a:lnSpc>
              <a:spcBef>
                <a:spcPts val="750"/>
              </a:spcBef>
              <a:spcAft>
                <a:spcPts val="0"/>
              </a:spcAft>
              <a:buClr>
                <a:schemeClr val="dk1"/>
              </a:buClr>
              <a:buSzPts val="1600"/>
              <a:buNone/>
              <a:defRPr sz="2400" b="1"/>
            </a:lvl4pPr>
            <a:lvl5pPr marL="2286000" lvl="4" indent="-228600" algn="l">
              <a:lnSpc>
                <a:spcPct val="90000"/>
              </a:lnSpc>
              <a:spcBef>
                <a:spcPts val="750"/>
              </a:spcBef>
              <a:spcAft>
                <a:spcPts val="0"/>
              </a:spcAft>
              <a:buClr>
                <a:schemeClr val="dk1"/>
              </a:buClr>
              <a:buSzPts val="1600"/>
              <a:buNone/>
              <a:defRPr sz="2400" b="1"/>
            </a:lvl5pPr>
            <a:lvl6pPr marL="2743200" lvl="5" indent="-228600" algn="l">
              <a:lnSpc>
                <a:spcPct val="90000"/>
              </a:lnSpc>
              <a:spcBef>
                <a:spcPts val="750"/>
              </a:spcBef>
              <a:spcAft>
                <a:spcPts val="0"/>
              </a:spcAft>
              <a:buClr>
                <a:schemeClr val="dk1"/>
              </a:buClr>
              <a:buSzPts val="1600"/>
              <a:buNone/>
              <a:defRPr sz="2400" b="1"/>
            </a:lvl6pPr>
            <a:lvl7pPr marL="3200400" lvl="6" indent="-228600" algn="l">
              <a:lnSpc>
                <a:spcPct val="90000"/>
              </a:lnSpc>
              <a:spcBef>
                <a:spcPts val="750"/>
              </a:spcBef>
              <a:spcAft>
                <a:spcPts val="0"/>
              </a:spcAft>
              <a:buClr>
                <a:schemeClr val="dk1"/>
              </a:buClr>
              <a:buSzPts val="1600"/>
              <a:buNone/>
              <a:defRPr sz="2400" b="1"/>
            </a:lvl7pPr>
            <a:lvl8pPr marL="3657600" lvl="7" indent="-228600" algn="l">
              <a:lnSpc>
                <a:spcPct val="90000"/>
              </a:lnSpc>
              <a:spcBef>
                <a:spcPts val="750"/>
              </a:spcBef>
              <a:spcAft>
                <a:spcPts val="0"/>
              </a:spcAft>
              <a:buClr>
                <a:schemeClr val="dk1"/>
              </a:buClr>
              <a:buSzPts val="1600"/>
              <a:buNone/>
              <a:defRPr sz="2400" b="1"/>
            </a:lvl8pPr>
            <a:lvl9pPr marL="4114800" lvl="8" indent="-228600" algn="l">
              <a:lnSpc>
                <a:spcPct val="90000"/>
              </a:lnSpc>
              <a:spcBef>
                <a:spcPts val="750"/>
              </a:spcBef>
              <a:spcAft>
                <a:spcPts val="0"/>
              </a:spcAft>
              <a:buClr>
                <a:schemeClr val="dk1"/>
              </a:buClr>
              <a:buSzPts val="1600"/>
              <a:buNone/>
              <a:defRPr sz="2400" b="1"/>
            </a:lvl9pPr>
          </a:lstStyle>
          <a:p>
            <a:endParaRPr/>
          </a:p>
        </p:txBody>
      </p:sp>
      <p:sp>
        <p:nvSpPr>
          <p:cNvPr id="52" name="Google Shape;52;p28"/>
          <p:cNvSpPr txBox="1">
            <a:spLocks noGrp="1"/>
          </p:cNvSpPr>
          <p:nvPr>
            <p:ph type="body" idx="4"/>
          </p:nvPr>
        </p:nvSpPr>
        <p:spPr>
          <a:xfrm>
            <a:off x="9258300" y="3757613"/>
            <a:ext cx="7774782" cy="55268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00"/>
              </a:spcBef>
              <a:spcAft>
                <a:spcPts val="0"/>
              </a:spcAft>
              <a:buClr>
                <a:schemeClr val="dk1"/>
              </a:buClr>
              <a:buSzPts val="1800"/>
              <a:buChar char="•"/>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53" name="Google Shape;53;p28"/>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54" name="Google Shape;54;p28"/>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55" name="Google Shape;55;p28"/>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9"/>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9"/>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59" name="Google Shape;59;p29"/>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60" name="Google Shape;60;p29"/>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1259683" y="685800"/>
            <a:ext cx="5898356" cy="24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30"/>
          <p:cNvSpPr txBox="1">
            <a:spLocks noGrp="1"/>
          </p:cNvSpPr>
          <p:nvPr>
            <p:ph type="body" idx="1"/>
          </p:nvPr>
        </p:nvSpPr>
        <p:spPr>
          <a:xfrm>
            <a:off x="7774782" y="1481138"/>
            <a:ext cx="9258300" cy="7310438"/>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500"/>
              </a:spcBef>
              <a:spcAft>
                <a:spcPts val="0"/>
              </a:spcAft>
              <a:buClr>
                <a:schemeClr val="dk1"/>
              </a:buClr>
              <a:buSzPts val="3200"/>
              <a:buChar char="•"/>
              <a:defRPr sz="4800"/>
            </a:lvl1pPr>
            <a:lvl2pPr marL="914400" lvl="1" indent="-406400" algn="l">
              <a:lnSpc>
                <a:spcPct val="90000"/>
              </a:lnSpc>
              <a:spcBef>
                <a:spcPts val="750"/>
              </a:spcBef>
              <a:spcAft>
                <a:spcPts val="0"/>
              </a:spcAft>
              <a:buClr>
                <a:schemeClr val="dk1"/>
              </a:buClr>
              <a:buSzPts val="2800"/>
              <a:buChar char="•"/>
              <a:defRPr sz="4200"/>
            </a:lvl2pPr>
            <a:lvl3pPr marL="1371600" lvl="2" indent="-381000" algn="l">
              <a:lnSpc>
                <a:spcPct val="90000"/>
              </a:lnSpc>
              <a:spcBef>
                <a:spcPts val="750"/>
              </a:spcBef>
              <a:spcAft>
                <a:spcPts val="0"/>
              </a:spcAft>
              <a:buClr>
                <a:schemeClr val="dk1"/>
              </a:buClr>
              <a:buSzPts val="2400"/>
              <a:buChar char="•"/>
              <a:defRPr sz="3600"/>
            </a:lvl3pPr>
            <a:lvl4pPr marL="1828800" lvl="3" indent="-355600" algn="l">
              <a:lnSpc>
                <a:spcPct val="90000"/>
              </a:lnSpc>
              <a:spcBef>
                <a:spcPts val="750"/>
              </a:spcBef>
              <a:spcAft>
                <a:spcPts val="0"/>
              </a:spcAft>
              <a:buClr>
                <a:schemeClr val="dk1"/>
              </a:buClr>
              <a:buSzPts val="2000"/>
              <a:buChar char="•"/>
              <a:defRPr sz="3000"/>
            </a:lvl4pPr>
            <a:lvl5pPr marL="2286000" lvl="4" indent="-355600" algn="l">
              <a:lnSpc>
                <a:spcPct val="90000"/>
              </a:lnSpc>
              <a:spcBef>
                <a:spcPts val="750"/>
              </a:spcBef>
              <a:spcAft>
                <a:spcPts val="0"/>
              </a:spcAft>
              <a:buClr>
                <a:schemeClr val="dk1"/>
              </a:buClr>
              <a:buSzPts val="2000"/>
              <a:buChar char="•"/>
              <a:defRPr sz="3000"/>
            </a:lvl5pPr>
            <a:lvl6pPr marL="2743200" lvl="5" indent="-355600" algn="l">
              <a:lnSpc>
                <a:spcPct val="90000"/>
              </a:lnSpc>
              <a:spcBef>
                <a:spcPts val="750"/>
              </a:spcBef>
              <a:spcAft>
                <a:spcPts val="0"/>
              </a:spcAft>
              <a:buClr>
                <a:schemeClr val="dk1"/>
              </a:buClr>
              <a:buSzPts val="2000"/>
              <a:buChar char="•"/>
              <a:defRPr sz="3000"/>
            </a:lvl6pPr>
            <a:lvl7pPr marL="3200400" lvl="6" indent="-355600" algn="l">
              <a:lnSpc>
                <a:spcPct val="90000"/>
              </a:lnSpc>
              <a:spcBef>
                <a:spcPts val="750"/>
              </a:spcBef>
              <a:spcAft>
                <a:spcPts val="0"/>
              </a:spcAft>
              <a:buClr>
                <a:schemeClr val="dk1"/>
              </a:buClr>
              <a:buSzPts val="2000"/>
              <a:buChar char="•"/>
              <a:defRPr sz="3000"/>
            </a:lvl7pPr>
            <a:lvl8pPr marL="3657600" lvl="7" indent="-355600" algn="l">
              <a:lnSpc>
                <a:spcPct val="90000"/>
              </a:lnSpc>
              <a:spcBef>
                <a:spcPts val="750"/>
              </a:spcBef>
              <a:spcAft>
                <a:spcPts val="0"/>
              </a:spcAft>
              <a:buClr>
                <a:schemeClr val="dk1"/>
              </a:buClr>
              <a:buSzPts val="2000"/>
              <a:buChar char="•"/>
              <a:defRPr sz="3000"/>
            </a:lvl8pPr>
            <a:lvl9pPr marL="4114800" lvl="8" indent="-355600" algn="l">
              <a:lnSpc>
                <a:spcPct val="90000"/>
              </a:lnSpc>
              <a:spcBef>
                <a:spcPts val="750"/>
              </a:spcBef>
              <a:spcAft>
                <a:spcPts val="0"/>
              </a:spcAft>
              <a:buClr>
                <a:schemeClr val="dk1"/>
              </a:buClr>
              <a:buSzPts val="2000"/>
              <a:buChar char="•"/>
              <a:defRPr sz="3000"/>
            </a:lvl9pPr>
          </a:lstStyle>
          <a:p>
            <a:endParaRPr/>
          </a:p>
        </p:txBody>
      </p:sp>
      <p:sp>
        <p:nvSpPr>
          <p:cNvPr id="64" name="Google Shape;64;p30"/>
          <p:cNvSpPr txBox="1">
            <a:spLocks noGrp="1"/>
          </p:cNvSpPr>
          <p:nvPr>
            <p:ph type="body" idx="2"/>
          </p:nvPr>
        </p:nvSpPr>
        <p:spPr>
          <a:xfrm>
            <a:off x="1259683" y="3086100"/>
            <a:ext cx="5898356" cy="57173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00"/>
              </a:spcBef>
              <a:spcAft>
                <a:spcPts val="0"/>
              </a:spcAft>
              <a:buClr>
                <a:schemeClr val="dk1"/>
              </a:buClr>
              <a:buSzPts val="1600"/>
              <a:buNone/>
              <a:defRPr sz="2400"/>
            </a:lvl1pPr>
            <a:lvl2pPr marL="914400" lvl="1" indent="-228600" algn="l">
              <a:lnSpc>
                <a:spcPct val="90000"/>
              </a:lnSpc>
              <a:spcBef>
                <a:spcPts val="750"/>
              </a:spcBef>
              <a:spcAft>
                <a:spcPts val="0"/>
              </a:spcAft>
              <a:buClr>
                <a:schemeClr val="dk1"/>
              </a:buClr>
              <a:buSzPts val="1400"/>
              <a:buNone/>
              <a:defRPr sz="2100"/>
            </a:lvl2pPr>
            <a:lvl3pPr marL="1371600" lvl="2" indent="-228600" algn="l">
              <a:lnSpc>
                <a:spcPct val="90000"/>
              </a:lnSpc>
              <a:spcBef>
                <a:spcPts val="750"/>
              </a:spcBef>
              <a:spcAft>
                <a:spcPts val="0"/>
              </a:spcAft>
              <a:buClr>
                <a:schemeClr val="dk1"/>
              </a:buClr>
              <a:buSzPts val="1200"/>
              <a:buNone/>
              <a:defRPr sz="1800"/>
            </a:lvl3pPr>
            <a:lvl4pPr marL="1828800" lvl="3" indent="-228600" algn="l">
              <a:lnSpc>
                <a:spcPct val="90000"/>
              </a:lnSpc>
              <a:spcBef>
                <a:spcPts val="750"/>
              </a:spcBef>
              <a:spcAft>
                <a:spcPts val="0"/>
              </a:spcAft>
              <a:buClr>
                <a:schemeClr val="dk1"/>
              </a:buClr>
              <a:buSzPts val="1000"/>
              <a:buNone/>
              <a:defRPr sz="1500"/>
            </a:lvl4pPr>
            <a:lvl5pPr marL="2286000" lvl="4" indent="-228600" algn="l">
              <a:lnSpc>
                <a:spcPct val="90000"/>
              </a:lnSpc>
              <a:spcBef>
                <a:spcPts val="750"/>
              </a:spcBef>
              <a:spcAft>
                <a:spcPts val="0"/>
              </a:spcAft>
              <a:buClr>
                <a:schemeClr val="dk1"/>
              </a:buClr>
              <a:buSzPts val="1000"/>
              <a:buNone/>
              <a:defRPr sz="1500"/>
            </a:lvl5pPr>
            <a:lvl6pPr marL="2743200" lvl="5" indent="-228600" algn="l">
              <a:lnSpc>
                <a:spcPct val="90000"/>
              </a:lnSpc>
              <a:spcBef>
                <a:spcPts val="750"/>
              </a:spcBef>
              <a:spcAft>
                <a:spcPts val="0"/>
              </a:spcAft>
              <a:buClr>
                <a:schemeClr val="dk1"/>
              </a:buClr>
              <a:buSzPts val="1000"/>
              <a:buNone/>
              <a:defRPr sz="1500"/>
            </a:lvl6pPr>
            <a:lvl7pPr marL="3200400" lvl="6" indent="-228600" algn="l">
              <a:lnSpc>
                <a:spcPct val="90000"/>
              </a:lnSpc>
              <a:spcBef>
                <a:spcPts val="750"/>
              </a:spcBef>
              <a:spcAft>
                <a:spcPts val="0"/>
              </a:spcAft>
              <a:buClr>
                <a:schemeClr val="dk1"/>
              </a:buClr>
              <a:buSzPts val="1000"/>
              <a:buNone/>
              <a:defRPr sz="1500"/>
            </a:lvl7pPr>
            <a:lvl8pPr marL="3657600" lvl="7" indent="-228600" algn="l">
              <a:lnSpc>
                <a:spcPct val="90000"/>
              </a:lnSpc>
              <a:spcBef>
                <a:spcPts val="750"/>
              </a:spcBef>
              <a:spcAft>
                <a:spcPts val="0"/>
              </a:spcAft>
              <a:buClr>
                <a:schemeClr val="dk1"/>
              </a:buClr>
              <a:buSzPts val="1000"/>
              <a:buNone/>
              <a:defRPr sz="1500"/>
            </a:lvl8pPr>
            <a:lvl9pPr marL="4114800" lvl="8" indent="-228600" algn="l">
              <a:lnSpc>
                <a:spcPct val="90000"/>
              </a:lnSpc>
              <a:spcBef>
                <a:spcPts val="750"/>
              </a:spcBef>
              <a:spcAft>
                <a:spcPts val="0"/>
              </a:spcAft>
              <a:buClr>
                <a:schemeClr val="dk1"/>
              </a:buClr>
              <a:buSzPts val="1000"/>
              <a:buNone/>
              <a:defRPr sz="1500"/>
            </a:lvl9pPr>
          </a:lstStyle>
          <a:p>
            <a:endParaRPr/>
          </a:p>
        </p:txBody>
      </p:sp>
      <p:sp>
        <p:nvSpPr>
          <p:cNvPr id="65" name="Google Shape;65;p30"/>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66" name="Google Shape;66;p30"/>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67" name="Google Shape;67;p30"/>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1259683" y="685800"/>
            <a:ext cx="5898356" cy="24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1"/>
          <p:cNvSpPr>
            <a:spLocks noGrp="1"/>
          </p:cNvSpPr>
          <p:nvPr>
            <p:ph type="pic" idx="2"/>
          </p:nvPr>
        </p:nvSpPr>
        <p:spPr>
          <a:xfrm>
            <a:off x="7774782" y="1481138"/>
            <a:ext cx="9258300" cy="7310438"/>
          </a:xfrm>
          <a:prstGeom prst="rect">
            <a:avLst/>
          </a:prstGeom>
          <a:noFill/>
          <a:ln>
            <a:noFill/>
          </a:ln>
        </p:spPr>
      </p:sp>
      <p:sp>
        <p:nvSpPr>
          <p:cNvPr id="71" name="Google Shape;71;p31"/>
          <p:cNvSpPr txBox="1">
            <a:spLocks noGrp="1"/>
          </p:cNvSpPr>
          <p:nvPr>
            <p:ph type="body" idx="1"/>
          </p:nvPr>
        </p:nvSpPr>
        <p:spPr>
          <a:xfrm>
            <a:off x="1259683" y="3086100"/>
            <a:ext cx="5898356" cy="571738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500"/>
              </a:spcBef>
              <a:spcAft>
                <a:spcPts val="0"/>
              </a:spcAft>
              <a:buClr>
                <a:schemeClr val="dk1"/>
              </a:buClr>
              <a:buSzPts val="1600"/>
              <a:buNone/>
              <a:defRPr sz="2400"/>
            </a:lvl1pPr>
            <a:lvl2pPr marL="914400" lvl="1" indent="-228600" algn="l">
              <a:lnSpc>
                <a:spcPct val="90000"/>
              </a:lnSpc>
              <a:spcBef>
                <a:spcPts val="750"/>
              </a:spcBef>
              <a:spcAft>
                <a:spcPts val="0"/>
              </a:spcAft>
              <a:buClr>
                <a:schemeClr val="dk1"/>
              </a:buClr>
              <a:buSzPts val="1400"/>
              <a:buNone/>
              <a:defRPr sz="2100"/>
            </a:lvl2pPr>
            <a:lvl3pPr marL="1371600" lvl="2" indent="-228600" algn="l">
              <a:lnSpc>
                <a:spcPct val="90000"/>
              </a:lnSpc>
              <a:spcBef>
                <a:spcPts val="750"/>
              </a:spcBef>
              <a:spcAft>
                <a:spcPts val="0"/>
              </a:spcAft>
              <a:buClr>
                <a:schemeClr val="dk1"/>
              </a:buClr>
              <a:buSzPts val="1200"/>
              <a:buNone/>
              <a:defRPr sz="1800"/>
            </a:lvl3pPr>
            <a:lvl4pPr marL="1828800" lvl="3" indent="-228600" algn="l">
              <a:lnSpc>
                <a:spcPct val="90000"/>
              </a:lnSpc>
              <a:spcBef>
                <a:spcPts val="750"/>
              </a:spcBef>
              <a:spcAft>
                <a:spcPts val="0"/>
              </a:spcAft>
              <a:buClr>
                <a:schemeClr val="dk1"/>
              </a:buClr>
              <a:buSzPts val="1000"/>
              <a:buNone/>
              <a:defRPr sz="1500"/>
            </a:lvl4pPr>
            <a:lvl5pPr marL="2286000" lvl="4" indent="-228600" algn="l">
              <a:lnSpc>
                <a:spcPct val="90000"/>
              </a:lnSpc>
              <a:spcBef>
                <a:spcPts val="750"/>
              </a:spcBef>
              <a:spcAft>
                <a:spcPts val="0"/>
              </a:spcAft>
              <a:buClr>
                <a:schemeClr val="dk1"/>
              </a:buClr>
              <a:buSzPts val="1000"/>
              <a:buNone/>
              <a:defRPr sz="1500"/>
            </a:lvl5pPr>
            <a:lvl6pPr marL="2743200" lvl="5" indent="-228600" algn="l">
              <a:lnSpc>
                <a:spcPct val="90000"/>
              </a:lnSpc>
              <a:spcBef>
                <a:spcPts val="750"/>
              </a:spcBef>
              <a:spcAft>
                <a:spcPts val="0"/>
              </a:spcAft>
              <a:buClr>
                <a:schemeClr val="dk1"/>
              </a:buClr>
              <a:buSzPts val="1000"/>
              <a:buNone/>
              <a:defRPr sz="1500"/>
            </a:lvl6pPr>
            <a:lvl7pPr marL="3200400" lvl="6" indent="-228600" algn="l">
              <a:lnSpc>
                <a:spcPct val="90000"/>
              </a:lnSpc>
              <a:spcBef>
                <a:spcPts val="750"/>
              </a:spcBef>
              <a:spcAft>
                <a:spcPts val="0"/>
              </a:spcAft>
              <a:buClr>
                <a:schemeClr val="dk1"/>
              </a:buClr>
              <a:buSzPts val="1000"/>
              <a:buNone/>
              <a:defRPr sz="1500"/>
            </a:lvl7pPr>
            <a:lvl8pPr marL="3657600" lvl="7" indent="-228600" algn="l">
              <a:lnSpc>
                <a:spcPct val="90000"/>
              </a:lnSpc>
              <a:spcBef>
                <a:spcPts val="750"/>
              </a:spcBef>
              <a:spcAft>
                <a:spcPts val="0"/>
              </a:spcAft>
              <a:buClr>
                <a:schemeClr val="dk1"/>
              </a:buClr>
              <a:buSzPts val="1000"/>
              <a:buNone/>
              <a:defRPr sz="1500"/>
            </a:lvl8pPr>
            <a:lvl9pPr marL="4114800" lvl="8" indent="-228600" algn="l">
              <a:lnSpc>
                <a:spcPct val="90000"/>
              </a:lnSpc>
              <a:spcBef>
                <a:spcPts val="750"/>
              </a:spcBef>
              <a:spcAft>
                <a:spcPts val="0"/>
              </a:spcAft>
              <a:buClr>
                <a:schemeClr val="dk1"/>
              </a:buClr>
              <a:buSzPts val="1000"/>
              <a:buNone/>
              <a:defRPr sz="1500"/>
            </a:lvl9pPr>
          </a:lstStyle>
          <a:p>
            <a:endParaRPr/>
          </a:p>
        </p:txBody>
      </p:sp>
      <p:sp>
        <p:nvSpPr>
          <p:cNvPr id="72" name="Google Shape;72;p31"/>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73" name="Google Shape;73;p31"/>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74" name="Google Shape;74;p31"/>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32"/>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32"/>
          <p:cNvSpPr txBox="1">
            <a:spLocks noGrp="1"/>
          </p:cNvSpPr>
          <p:nvPr>
            <p:ph type="body" idx="1"/>
          </p:nvPr>
        </p:nvSpPr>
        <p:spPr>
          <a:xfrm rot="5400000">
            <a:off x="5880497" y="-1884759"/>
            <a:ext cx="6527007" cy="1577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00"/>
              </a:spcBef>
              <a:spcAft>
                <a:spcPts val="0"/>
              </a:spcAft>
              <a:buClr>
                <a:schemeClr val="dk1"/>
              </a:buClr>
              <a:buSzPts val="1800"/>
              <a:buChar char="•"/>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78" name="Google Shape;78;p32"/>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79" name="Google Shape;79;p32"/>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80" name="Google Shape;80;p32"/>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33"/>
          <p:cNvSpPr txBox="1">
            <a:spLocks noGrp="1"/>
          </p:cNvSpPr>
          <p:nvPr>
            <p:ph type="title"/>
          </p:nvPr>
        </p:nvSpPr>
        <p:spPr>
          <a:xfrm rot="5400000">
            <a:off x="10700147" y="2934891"/>
            <a:ext cx="8717757" cy="39433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33"/>
          <p:cNvSpPr txBox="1">
            <a:spLocks noGrp="1"/>
          </p:cNvSpPr>
          <p:nvPr>
            <p:ph type="body" idx="1"/>
          </p:nvPr>
        </p:nvSpPr>
        <p:spPr>
          <a:xfrm rot="5400000">
            <a:off x="2699147" y="-894159"/>
            <a:ext cx="8717757" cy="1160145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500"/>
              </a:spcBef>
              <a:spcAft>
                <a:spcPts val="0"/>
              </a:spcAft>
              <a:buClr>
                <a:schemeClr val="dk1"/>
              </a:buClr>
              <a:buSzPts val="1800"/>
              <a:buChar char="•"/>
              <a:defRPr/>
            </a:lvl1pPr>
            <a:lvl2pPr marL="914400" lvl="1" indent="-342900" algn="l">
              <a:lnSpc>
                <a:spcPct val="90000"/>
              </a:lnSpc>
              <a:spcBef>
                <a:spcPts val="750"/>
              </a:spcBef>
              <a:spcAft>
                <a:spcPts val="0"/>
              </a:spcAft>
              <a:buClr>
                <a:schemeClr val="dk1"/>
              </a:buClr>
              <a:buSzPts val="1800"/>
              <a:buChar char="•"/>
              <a:defRPr/>
            </a:lvl2pPr>
            <a:lvl3pPr marL="1371600" lvl="2" indent="-342900" algn="l">
              <a:lnSpc>
                <a:spcPct val="90000"/>
              </a:lnSpc>
              <a:spcBef>
                <a:spcPts val="750"/>
              </a:spcBef>
              <a:spcAft>
                <a:spcPts val="0"/>
              </a:spcAft>
              <a:buClr>
                <a:schemeClr val="dk1"/>
              </a:buClr>
              <a:buSzPts val="1800"/>
              <a:buChar char="•"/>
              <a:defRPr/>
            </a:lvl3pPr>
            <a:lvl4pPr marL="1828800" lvl="3" indent="-342900" algn="l">
              <a:lnSpc>
                <a:spcPct val="90000"/>
              </a:lnSpc>
              <a:spcBef>
                <a:spcPts val="750"/>
              </a:spcBef>
              <a:spcAft>
                <a:spcPts val="0"/>
              </a:spcAft>
              <a:buClr>
                <a:schemeClr val="dk1"/>
              </a:buClr>
              <a:buSzPts val="1800"/>
              <a:buChar char="•"/>
              <a:defRPr/>
            </a:lvl4pPr>
            <a:lvl5pPr marL="2286000" lvl="4" indent="-342900" algn="l">
              <a:lnSpc>
                <a:spcPct val="90000"/>
              </a:lnSpc>
              <a:spcBef>
                <a:spcPts val="750"/>
              </a:spcBef>
              <a:spcAft>
                <a:spcPts val="0"/>
              </a:spcAft>
              <a:buClr>
                <a:schemeClr val="dk1"/>
              </a:buClr>
              <a:buSzPts val="1800"/>
              <a:buChar char="•"/>
              <a:defRPr/>
            </a:lvl5pPr>
            <a:lvl6pPr marL="2743200" lvl="5" indent="-342900" algn="l">
              <a:lnSpc>
                <a:spcPct val="90000"/>
              </a:lnSpc>
              <a:spcBef>
                <a:spcPts val="750"/>
              </a:spcBef>
              <a:spcAft>
                <a:spcPts val="0"/>
              </a:spcAft>
              <a:buClr>
                <a:schemeClr val="dk1"/>
              </a:buClr>
              <a:buSzPts val="1800"/>
              <a:buChar char="•"/>
              <a:defRPr/>
            </a:lvl6pPr>
            <a:lvl7pPr marL="3200400" lvl="6" indent="-342900" algn="l">
              <a:lnSpc>
                <a:spcPct val="90000"/>
              </a:lnSpc>
              <a:spcBef>
                <a:spcPts val="750"/>
              </a:spcBef>
              <a:spcAft>
                <a:spcPts val="0"/>
              </a:spcAft>
              <a:buClr>
                <a:schemeClr val="dk1"/>
              </a:buClr>
              <a:buSzPts val="1800"/>
              <a:buChar char="•"/>
              <a:defRPr/>
            </a:lvl7pPr>
            <a:lvl8pPr marL="3657600" lvl="7" indent="-342900" algn="l">
              <a:lnSpc>
                <a:spcPct val="90000"/>
              </a:lnSpc>
              <a:spcBef>
                <a:spcPts val="750"/>
              </a:spcBef>
              <a:spcAft>
                <a:spcPts val="0"/>
              </a:spcAft>
              <a:buClr>
                <a:schemeClr val="dk1"/>
              </a:buClr>
              <a:buSzPts val="1800"/>
              <a:buChar char="•"/>
              <a:defRPr/>
            </a:lvl8pPr>
            <a:lvl9pPr marL="4114800" lvl="8" indent="-342900" algn="l">
              <a:lnSpc>
                <a:spcPct val="90000"/>
              </a:lnSpc>
              <a:spcBef>
                <a:spcPts val="750"/>
              </a:spcBef>
              <a:spcAft>
                <a:spcPts val="0"/>
              </a:spcAft>
              <a:buClr>
                <a:schemeClr val="dk1"/>
              </a:buClr>
              <a:buSzPts val="1800"/>
              <a:buChar char="•"/>
              <a:defRPr/>
            </a:lvl9pPr>
          </a:lstStyle>
          <a:p>
            <a:endParaRPr/>
          </a:p>
        </p:txBody>
      </p:sp>
      <p:sp>
        <p:nvSpPr>
          <p:cNvPr id="84" name="Google Shape;84;p33"/>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85" name="Google Shape;85;p33"/>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757575"/>
              </a:buClr>
              <a:buSzPts val="1400"/>
              <a:buFont typeface="Arial"/>
              <a:buNone/>
              <a:defRPr/>
            </a:lvl1pPr>
            <a:lvl2pPr lvl="1" algn="l">
              <a:spcBef>
                <a:spcPts val="0"/>
              </a:spcBef>
              <a:spcAft>
                <a:spcPts val="0"/>
              </a:spcAft>
              <a:buClr>
                <a:schemeClr val="dk1"/>
              </a:buClr>
              <a:buSzPts val="1400"/>
              <a:buFont typeface="Arial"/>
              <a:buNone/>
              <a:defRPr/>
            </a:lvl2pPr>
            <a:lvl3pPr lvl="2" algn="l">
              <a:spcBef>
                <a:spcPts val="0"/>
              </a:spcBef>
              <a:spcAft>
                <a:spcPts val="0"/>
              </a:spcAft>
              <a:buClr>
                <a:schemeClr val="dk1"/>
              </a:buClr>
              <a:buSzPts val="1400"/>
              <a:buFont typeface="Arial"/>
              <a:buNone/>
              <a:defRPr/>
            </a:lvl3pPr>
            <a:lvl4pPr lvl="3" algn="l">
              <a:spcBef>
                <a:spcPts val="0"/>
              </a:spcBef>
              <a:spcAft>
                <a:spcPts val="0"/>
              </a:spcAft>
              <a:buClr>
                <a:schemeClr val="dk1"/>
              </a:buClr>
              <a:buSzPts val="1400"/>
              <a:buFont typeface="Arial"/>
              <a:buNone/>
              <a:defRPr/>
            </a:lvl4pPr>
            <a:lvl5pPr lvl="4" algn="l">
              <a:spcBef>
                <a:spcPts val="0"/>
              </a:spcBef>
              <a:spcAft>
                <a:spcPts val="0"/>
              </a:spcAft>
              <a:buClr>
                <a:schemeClr val="dk1"/>
              </a:buClr>
              <a:buSzPts val="1400"/>
              <a:buFont typeface="Arial"/>
              <a:buNone/>
              <a:defRPr/>
            </a:lvl5pPr>
            <a:lvl6pPr lvl="5" algn="l">
              <a:spcBef>
                <a:spcPts val="0"/>
              </a:spcBef>
              <a:spcAft>
                <a:spcPts val="0"/>
              </a:spcAft>
              <a:buClr>
                <a:schemeClr val="dk1"/>
              </a:buClr>
              <a:buSzPts val="1400"/>
              <a:buFont typeface="Arial"/>
              <a:buNone/>
              <a:defRPr/>
            </a:lvl6pPr>
            <a:lvl7pPr lvl="6" algn="l">
              <a:spcBef>
                <a:spcPts val="0"/>
              </a:spcBef>
              <a:spcAft>
                <a:spcPts val="0"/>
              </a:spcAft>
              <a:buClr>
                <a:schemeClr val="dk1"/>
              </a:buClr>
              <a:buSzPts val="1400"/>
              <a:buFont typeface="Arial"/>
              <a:buNone/>
              <a:defRPr/>
            </a:lvl7pPr>
            <a:lvl8pPr lvl="7" algn="l">
              <a:spcBef>
                <a:spcPts val="0"/>
              </a:spcBef>
              <a:spcAft>
                <a:spcPts val="0"/>
              </a:spcAft>
              <a:buClr>
                <a:schemeClr val="dk1"/>
              </a:buClr>
              <a:buSzPts val="1400"/>
              <a:buFont typeface="Arial"/>
              <a:buNone/>
              <a:defRPr/>
            </a:lvl8pPr>
            <a:lvl9pPr lvl="8" algn="l">
              <a:spcBef>
                <a:spcPts val="0"/>
              </a:spcBef>
              <a:spcAft>
                <a:spcPts val="0"/>
              </a:spcAft>
              <a:buClr>
                <a:schemeClr val="dk1"/>
              </a:buClr>
              <a:buSzPts val="1400"/>
              <a:buFont typeface="Arial"/>
              <a:buNone/>
              <a:defRPr/>
            </a:lvl9pPr>
          </a:lstStyle>
          <a:p>
            <a:endParaRPr/>
          </a:p>
        </p:txBody>
      </p:sp>
      <p:sp>
        <p:nvSpPr>
          <p:cNvPr id="86" name="Google Shape;86;p33"/>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lvl="1"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lvl="2"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lvl="3"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lvl="4"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lvl="5"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lvl="6"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lvl="7"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lvl="8" indent="0" algn="r">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7"/>
        <p:cNvGrpSpPr/>
        <p:nvPr/>
      </p:nvGrpSpPr>
      <p:grpSpPr>
        <a:xfrm>
          <a:off x="0" y="0"/>
          <a:ext cx="0" cy="0"/>
          <a:chOff x="0" y="0"/>
          <a:chExt cx="0" cy="0"/>
        </a:xfrm>
      </p:grpSpPr>
      <p:sp>
        <p:nvSpPr>
          <p:cNvPr id="98" name="Google Shape;98;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00" name="Google Shape;10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3"/>
        <p:cNvGrpSpPr/>
        <p:nvPr/>
      </p:nvGrpSpPr>
      <p:grpSpPr>
        <a:xfrm>
          <a:off x="0" y="0"/>
          <a:ext cx="0" cy="0"/>
          <a:chOff x="0" y="0"/>
          <a:chExt cx="0" cy="0"/>
        </a:xfrm>
      </p:grpSpPr>
      <p:sp>
        <p:nvSpPr>
          <p:cNvPr id="2" name="Do not remove" hidden="1">
            <a:extLst>
              <a:ext uri="{FF2B5EF4-FFF2-40B4-BE49-F238E27FC236}">
                <a16:creationId xmlns="" xmlns:a16="http://schemas.microsoft.com/office/drawing/2014/main" id="{2358BC7B-3441-4605-A6A7-6925E55DF48A}"/>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Google Shape;10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6" name="Google Shape;106;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12" name="Google Shape;1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8" name="Google Shape;118;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9" name="Google Shape;119;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5" name="Google Shape;125;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6" name="Google Shape;126;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7" name="Google Shape;127;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8" name="Google Shape;12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1"/>
        <p:cNvGrpSpPr/>
        <p:nvPr/>
      </p:nvGrpSpPr>
      <p:grpSpPr>
        <a:xfrm>
          <a:off x="0" y="0"/>
          <a:ext cx="0" cy="0"/>
          <a:chOff x="0" y="0"/>
          <a:chExt cx="0" cy="0"/>
        </a:xfrm>
      </p:grpSpPr>
      <p:sp>
        <p:nvSpPr>
          <p:cNvPr id="132" name="Google Shape;132;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9" name="Google Shape;139;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1"/>
          <p:cNvSpPr>
            <a:spLocks noGrp="1"/>
          </p:cNvSpPr>
          <p:nvPr>
            <p:ph type="pic" idx="2"/>
          </p:nvPr>
        </p:nvSpPr>
        <p:spPr>
          <a:xfrm>
            <a:off x="1792288" y="612775"/>
            <a:ext cx="5486400" cy="4114800"/>
          </a:xfrm>
          <a:prstGeom prst="rect">
            <a:avLst/>
          </a:prstGeom>
          <a:noFill/>
          <a:ln>
            <a:noFill/>
          </a:ln>
        </p:spPr>
      </p:sp>
      <p:sp>
        <p:nvSpPr>
          <p:cNvPr id="146" name="Google Shape;146;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7" name="Google Shape;14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3" name="Google Shape;153;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6"/>
        <p:cNvGrpSpPr/>
        <p:nvPr/>
      </p:nvGrpSpPr>
      <p:grpSpPr>
        <a:xfrm>
          <a:off x="0" y="0"/>
          <a:ext cx="0" cy="0"/>
          <a:chOff x="0" y="0"/>
          <a:chExt cx="0" cy="0"/>
        </a:xfrm>
      </p:grpSpPr>
      <p:sp>
        <p:nvSpPr>
          <p:cNvPr id="157" name="Google Shape;157;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9" name="Google Shape;159;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0"/>
          <p:cNvSpPr txBox="1">
            <a:spLocks noGrp="1"/>
          </p:cNvSpPr>
          <p:nvPr>
            <p:ph type="body" idx="1"/>
          </p:nvPr>
        </p:nvSpPr>
        <p:spPr>
          <a:xfrm>
            <a:off x="1257300" y="2738438"/>
            <a:ext cx="15773400" cy="6527007"/>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0"/>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757575"/>
              </a:buClr>
              <a:buSzPts val="1400"/>
              <a:buFont typeface="Arial"/>
              <a:buNone/>
              <a:defRPr sz="1800" b="0" i="0" u="none" strike="noStrike" cap="none">
                <a:solidFill>
                  <a:srgbClr val="757575"/>
                </a:solidFill>
                <a:latin typeface="Arial"/>
                <a:ea typeface="Arial"/>
                <a:cs typeface="Arial"/>
                <a:sym typeface="Arial"/>
              </a:defRPr>
            </a:lvl1pPr>
            <a:lvl2pPr marR="0" lvl="1"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9pPr>
          </a:lstStyle>
          <a:p>
            <a:endParaRPr/>
          </a:p>
        </p:txBody>
      </p:sp>
      <p:sp>
        <p:nvSpPr>
          <p:cNvPr id="13" name="Google Shape;13;p10"/>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757575"/>
              </a:buClr>
              <a:buSzPts val="1400"/>
              <a:buFont typeface="Arial"/>
              <a:buNone/>
              <a:defRPr sz="1800" b="0" i="0" u="none" strike="noStrike" cap="none">
                <a:solidFill>
                  <a:srgbClr val="757575"/>
                </a:solidFill>
                <a:latin typeface="Arial"/>
                <a:ea typeface="Arial"/>
                <a:cs typeface="Arial"/>
                <a:sym typeface="Arial"/>
              </a:defRPr>
            </a:lvl1pPr>
            <a:lvl2pPr marR="0" lvl="1"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400"/>
              <a:buFont typeface="Arial"/>
              <a:buNone/>
              <a:defRPr sz="2700" b="0" i="0" u="none" strike="noStrike" cap="none">
                <a:solidFill>
                  <a:schemeClr val="dk1"/>
                </a:solidFill>
                <a:latin typeface="Arial"/>
                <a:ea typeface="Arial"/>
                <a:cs typeface="Arial"/>
                <a:sym typeface="Arial"/>
              </a:defRPr>
            </a:lvl9pPr>
          </a:lstStyle>
          <a:p>
            <a:endParaRPr/>
          </a:p>
        </p:txBody>
      </p:sp>
      <p:sp>
        <p:nvSpPr>
          <p:cNvPr id="14" name="Google Shape;14;p10"/>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1pPr>
            <a:lvl2pPr marL="0" marR="0" lvl="1"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2pPr>
            <a:lvl3pPr marL="0" marR="0" lvl="2"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3pPr>
            <a:lvl4pPr marL="0" marR="0" lvl="3"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4pPr>
            <a:lvl5pPr marL="0" marR="0" lvl="4"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5pPr>
            <a:lvl6pPr marL="0" marR="0" lvl="5"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6pPr>
            <a:lvl7pPr marL="0" marR="0" lvl="6"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7pPr>
            <a:lvl8pPr marL="0" marR="0" lvl="7"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8pPr>
            <a:lvl9pPr marL="0" marR="0" lvl="8" indent="0" algn="r" rtl="0">
              <a:spcBef>
                <a:spcPts val="0"/>
              </a:spcBef>
              <a:buClr>
                <a:srgbClr val="757575"/>
              </a:buClr>
              <a:buSzPts val="1800"/>
              <a:buFont typeface="Arial"/>
              <a:buNone/>
              <a:defRPr sz="18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10" descr="A close-up of a network&#10;&#10;Description automatically generated"/>
          <p:cNvPicPr preferRelativeResize="0"/>
          <p:nvPr/>
        </p:nvPicPr>
        <p:blipFill rotWithShape="1">
          <a:blip r:embed="rId13">
            <a:alphaModFix/>
          </a:blip>
          <a:srcRect l="8222"/>
          <a:stretch/>
        </p:blipFill>
        <p:spPr>
          <a:xfrm>
            <a:off x="0" y="0"/>
            <a:ext cx="18288000" cy="10287000"/>
          </a:xfrm>
          <a:prstGeom prst="rect">
            <a:avLst/>
          </a:prstGeom>
          <a:noFill/>
          <a:ln>
            <a:noFill/>
          </a:ln>
        </p:spPr>
      </p:pic>
      <p:sp>
        <p:nvSpPr>
          <p:cNvPr id="16" name="Google Shape;16;p10"/>
          <p:cNvSpPr/>
          <p:nvPr/>
        </p:nvSpPr>
        <p:spPr>
          <a:xfrm>
            <a:off x="0" y="1"/>
            <a:ext cx="18288000" cy="10439399"/>
          </a:xfrm>
          <a:custGeom>
            <a:avLst/>
            <a:gdLst/>
            <a:ahLst/>
            <a:cxnLst/>
            <a:rect l="l" t="t" r="r" b="b"/>
            <a:pathLst>
              <a:path w="12192000" h="6858000" extrusionOk="0">
                <a:moveTo>
                  <a:pt x="12192000" y="0"/>
                </a:moveTo>
                <a:lnTo>
                  <a:pt x="0" y="0"/>
                </a:lnTo>
                <a:lnTo>
                  <a:pt x="0" y="6858000"/>
                </a:lnTo>
                <a:lnTo>
                  <a:pt x="12192000" y="6858000"/>
                </a:lnTo>
                <a:lnTo>
                  <a:pt x="12192000" y="0"/>
                </a:lnTo>
                <a:close/>
              </a:path>
            </a:pathLst>
          </a:custGeom>
          <a:solidFill>
            <a:srgbClr val="000000">
              <a:alpha val="64313"/>
            </a:srgbClr>
          </a:solid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2700"/>
              <a:buFont typeface="Arial"/>
              <a:buNone/>
            </a:pPr>
            <a:endParaRPr sz="2700" b="0" i="0" u="none" strike="noStrike" cap="none">
              <a:solidFill>
                <a:schemeClr val="dk1"/>
              </a:solidFill>
              <a:latin typeface="Arial"/>
              <a:ea typeface="Arial"/>
              <a:cs typeface="Arial"/>
              <a:sym typeface="Arial"/>
            </a:endParaRPr>
          </a:p>
        </p:txBody>
      </p:sp>
      <p:pic>
        <p:nvPicPr>
          <p:cNvPr id="17" name="Google Shape;17;p10"/>
          <p:cNvPicPr preferRelativeResize="0"/>
          <p:nvPr/>
        </p:nvPicPr>
        <p:blipFill rotWithShape="1">
          <a:blip r:embed="rId14">
            <a:alphaModFix/>
          </a:blip>
          <a:srcRect/>
          <a:stretch/>
        </p:blipFill>
        <p:spPr>
          <a:xfrm>
            <a:off x="373181" y="272723"/>
            <a:ext cx="2671763" cy="78581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9" name="Google Shape;89;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0" name="Google Shape;9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dreamstime.com/fishbone-diagram-silhouette-icon-clipart-image-isolated-white-background-fishbone-diagram-silhouette-icon-clipart-image-image208043463" TargetMode="External"/><Relationship Id="rId5" Type="http://schemas.openxmlformats.org/officeDocument/2006/relationships/image" Target="../media/image4.jpg"/><Relationship Id="rId4" Type="http://schemas.openxmlformats.org/officeDocument/2006/relationships/hyperlink" Target="https://www.podfeet.com/blog/2019/12/sco-draw-dot-i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hyperlink" Target="https://pxhere.com/pt/photo/709926"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7.jpg"/><Relationship Id="rId5" Type="http://schemas.openxmlformats.org/officeDocument/2006/relationships/image" Target="../media/image2.pn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hyperlink" Target="https://efectio.com/en/navigating-the-challenges-of-upskilling-and-reskilling-a-practical-guide/" TargetMode="Externa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hyperlink" Target="https://efectio.com/en/navigating-the-challenges-of-upskilling-and-reskilling-a-practical-guide/" TargetMode="Externa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hyperlink" Target="https://efectio.com/en/navigating-the-challenges-of-upskilling-and-reskilling-a-practical-guide/" TargetMode="Externa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hyperlink" Target="https://efectio.com/en/navigating-the-challenges-of-upskilling-and-reskilling-a-practical-guide/" TargetMode="Externa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8" Type="http://schemas.openxmlformats.org/officeDocument/2006/relationships/package" Target="../embeddings/Microsoft_Word_Document1.docx"/><Relationship Id="rId3" Type="http://schemas.openxmlformats.org/officeDocument/2006/relationships/notesSlide" Target="../notesSlides/notesSlide7.xml"/><Relationship Id="rId7"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6" Type="http://schemas.openxmlformats.org/officeDocument/2006/relationships/hyperlink" Target="https://www.opensourceforu.com/2016/03/the-life-of-a-process/" TargetMode="External"/><Relationship Id="rId5" Type="http://schemas.openxmlformats.org/officeDocument/2006/relationships/image" Target="../media/image10.jpg"/><Relationship Id="rId4" Type="http://schemas.openxmlformats.org/officeDocument/2006/relationships/image" Target="../media/image2.png"/><Relationship Id="rId9" Type="http://schemas.openxmlformats.org/officeDocument/2006/relationships/image" Target="../media/image9.wmf"/></Relationships>
</file>

<file path=ppt/slides/_rels/slide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4.xml"/><Relationship Id="rId5" Type="http://schemas.openxmlformats.org/officeDocument/2006/relationships/image" Target="../media/image2.pn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
          <p:cNvSpPr/>
          <p:nvPr/>
        </p:nvSpPr>
        <p:spPr>
          <a:xfrm>
            <a:off x="567825" y="4939125"/>
            <a:ext cx="17058600" cy="1987650"/>
          </a:xfrm>
          <a:prstGeom prst="rect">
            <a:avLst/>
          </a:prstGeom>
          <a:solidFill>
            <a:srgbClr val="0C0C0C">
              <a:alpha val="77647"/>
            </a:srgbClr>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rgbClr val="FFFFFF"/>
              </a:solidFill>
              <a:latin typeface="Georgia"/>
              <a:ea typeface="Georgia"/>
              <a:cs typeface="Georgia"/>
              <a:sym typeface="Georgia"/>
            </a:endParaRPr>
          </a:p>
        </p:txBody>
      </p:sp>
      <p:sp>
        <p:nvSpPr>
          <p:cNvPr id="167" name="Google Shape;167;p1"/>
          <p:cNvSpPr txBox="1"/>
          <p:nvPr/>
        </p:nvSpPr>
        <p:spPr>
          <a:xfrm>
            <a:off x="622476" y="5492548"/>
            <a:ext cx="16802700" cy="831000"/>
          </a:xfrm>
          <a:prstGeom prst="rect">
            <a:avLst/>
          </a:prstGeom>
          <a:noFill/>
          <a:ln>
            <a:noFill/>
          </a:ln>
        </p:spPr>
        <p:txBody>
          <a:bodyPr spcFirstLastPara="1" wrap="square" lIns="137125" tIns="68550" rIns="137125" bIns="68550" anchor="t" anchorCtr="0">
            <a:spAutoFit/>
          </a:bodyPr>
          <a:lstStyle/>
          <a:p>
            <a:pPr marL="0" marR="0" lvl="0" indent="0" algn="ctr" rtl="0">
              <a:spcBef>
                <a:spcPts val="0"/>
              </a:spcBef>
              <a:spcAft>
                <a:spcPts val="0"/>
              </a:spcAft>
              <a:buNone/>
            </a:pPr>
            <a:r>
              <a:rPr lang="en-US" sz="4500" b="1" dirty="0">
                <a:solidFill>
                  <a:srgbClr val="FFFFFF"/>
                </a:solidFill>
                <a:latin typeface="Georgia"/>
                <a:ea typeface="Georgia"/>
                <a:cs typeface="Georgia"/>
                <a:sym typeface="Georgia"/>
              </a:rPr>
              <a:t>Capstone Project- Gap Analysis and Process Mapping</a:t>
            </a:r>
            <a:endParaRPr sz="4500" b="1" i="0" u="none" strike="noStrike" cap="none" dirty="0">
              <a:solidFill>
                <a:srgbClr val="FFFFFF"/>
              </a:solidFill>
              <a:latin typeface="Georgia"/>
              <a:ea typeface="Georgia"/>
              <a:cs typeface="Georgia"/>
              <a:sym typeface="Georgia"/>
            </a:endParaRPr>
          </a:p>
        </p:txBody>
      </p:sp>
      <p:sp>
        <p:nvSpPr>
          <p:cNvPr id="168" name="Google Shape;168;p1"/>
          <p:cNvSpPr/>
          <p:nvPr/>
        </p:nvSpPr>
        <p:spPr>
          <a:xfrm>
            <a:off x="567807" y="4034550"/>
            <a:ext cx="5781600" cy="758250"/>
          </a:xfrm>
          <a:prstGeom prst="rect">
            <a:avLst/>
          </a:prstGeom>
          <a:solidFill>
            <a:srgbClr val="0C0C0C">
              <a:alpha val="77647"/>
            </a:srgbClr>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rgbClr val="FFFFFF"/>
              </a:solidFill>
              <a:latin typeface="Georgia"/>
              <a:ea typeface="Georgia"/>
              <a:cs typeface="Georgia"/>
              <a:sym typeface="Georgia"/>
            </a:endParaRPr>
          </a:p>
        </p:txBody>
      </p:sp>
      <p:sp>
        <p:nvSpPr>
          <p:cNvPr id="169" name="Google Shape;169;p1"/>
          <p:cNvSpPr/>
          <p:nvPr/>
        </p:nvSpPr>
        <p:spPr>
          <a:xfrm>
            <a:off x="6441020" y="4034550"/>
            <a:ext cx="6272550" cy="758250"/>
          </a:xfrm>
          <a:prstGeom prst="rect">
            <a:avLst/>
          </a:prstGeom>
          <a:solidFill>
            <a:srgbClr val="0C0C0C">
              <a:alpha val="77647"/>
            </a:srgbClr>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rgbClr val="FFFFFF"/>
              </a:solidFill>
              <a:latin typeface="Georgia"/>
              <a:ea typeface="Georgia"/>
              <a:cs typeface="Georgia"/>
              <a:sym typeface="Georgia"/>
            </a:endParaRPr>
          </a:p>
        </p:txBody>
      </p:sp>
      <p:sp>
        <p:nvSpPr>
          <p:cNvPr id="170" name="Google Shape;170;p1"/>
          <p:cNvSpPr/>
          <p:nvPr/>
        </p:nvSpPr>
        <p:spPr>
          <a:xfrm>
            <a:off x="12832557" y="4029713"/>
            <a:ext cx="4793850" cy="758250"/>
          </a:xfrm>
          <a:prstGeom prst="rect">
            <a:avLst/>
          </a:prstGeom>
          <a:solidFill>
            <a:srgbClr val="0C0C0C">
              <a:alpha val="77647"/>
            </a:srgbClr>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rgbClr val="FFFFFF"/>
              </a:solidFill>
              <a:latin typeface="Georgia"/>
              <a:ea typeface="Georgia"/>
              <a:cs typeface="Georgia"/>
              <a:sym typeface="Georgia"/>
            </a:endParaRPr>
          </a:p>
        </p:txBody>
      </p:sp>
      <p:sp>
        <p:nvSpPr>
          <p:cNvPr id="171" name="Google Shape;171;p1"/>
          <p:cNvSpPr txBox="1"/>
          <p:nvPr/>
        </p:nvSpPr>
        <p:spPr>
          <a:xfrm>
            <a:off x="815982" y="4201163"/>
            <a:ext cx="5285400" cy="692437"/>
          </a:xfrm>
          <a:prstGeom prst="rect">
            <a:avLst/>
          </a:prstGeom>
          <a:noFill/>
          <a:ln>
            <a:noFill/>
          </a:ln>
        </p:spPr>
        <p:txBody>
          <a:bodyPr spcFirstLastPara="1" wrap="square" lIns="137125" tIns="68550" rIns="137125" bIns="68550" anchor="t" anchorCtr="0">
            <a:spAutoFit/>
          </a:bodyPr>
          <a:lstStyle/>
          <a:p>
            <a:pPr marL="0" marR="0" lvl="0" indent="0" algn="l" rtl="0">
              <a:spcBef>
                <a:spcPts val="0"/>
              </a:spcBef>
              <a:spcAft>
                <a:spcPts val="0"/>
              </a:spcAft>
              <a:buNone/>
            </a:pPr>
            <a:r>
              <a:rPr lang="en-US" sz="1800" b="1" i="0" u="none" strike="noStrike" cap="none" dirty="0">
                <a:solidFill>
                  <a:srgbClr val="FFFFFF"/>
                </a:solidFill>
                <a:latin typeface="Georgia"/>
                <a:ea typeface="Georgia"/>
                <a:cs typeface="Georgia"/>
                <a:sym typeface="Georgia"/>
              </a:rPr>
              <a:t>Specialization:  </a:t>
            </a:r>
            <a:r>
              <a:rPr lang="en-US" sz="1800" b="1" i="1" u="none" strike="noStrike" cap="none" dirty="0">
                <a:solidFill>
                  <a:srgbClr val="FFC000"/>
                </a:solidFill>
                <a:latin typeface="Georgia"/>
                <a:ea typeface="Georgia"/>
                <a:cs typeface="Georgia"/>
                <a:sym typeface="Georgia"/>
              </a:rPr>
              <a:t>Process Mapping &amp; Gap  		Analysis</a:t>
            </a:r>
            <a:endParaRPr sz="1800" b="0" i="1" u="none" strike="noStrike" cap="none" dirty="0">
              <a:solidFill>
                <a:srgbClr val="FFC000"/>
              </a:solidFill>
              <a:latin typeface="Georgia"/>
              <a:ea typeface="Georgia"/>
              <a:cs typeface="Georgia"/>
              <a:sym typeface="Georgia"/>
            </a:endParaRPr>
          </a:p>
        </p:txBody>
      </p:sp>
      <p:sp>
        <p:nvSpPr>
          <p:cNvPr id="172" name="Google Shape;172;p1"/>
          <p:cNvSpPr txBox="1"/>
          <p:nvPr/>
        </p:nvSpPr>
        <p:spPr>
          <a:xfrm>
            <a:off x="6497363" y="4201163"/>
            <a:ext cx="6216000" cy="415500"/>
          </a:xfrm>
          <a:prstGeom prst="rect">
            <a:avLst/>
          </a:prstGeom>
          <a:noFill/>
          <a:ln>
            <a:noFill/>
          </a:ln>
        </p:spPr>
        <p:txBody>
          <a:bodyPr spcFirstLastPara="1" wrap="square" lIns="137125" tIns="68550" rIns="137125" bIns="68550" anchor="t" anchorCtr="0">
            <a:spAutoFit/>
          </a:bodyPr>
          <a:lstStyle/>
          <a:p>
            <a:pPr marL="0" marR="0" lvl="0" indent="0" algn="l" rtl="0">
              <a:spcBef>
                <a:spcPts val="0"/>
              </a:spcBef>
              <a:spcAft>
                <a:spcPts val="0"/>
              </a:spcAft>
              <a:buNone/>
            </a:pPr>
            <a:r>
              <a:rPr lang="en-US" sz="1800" b="1" i="0" u="none" strike="noStrike" cap="none" dirty="0">
                <a:solidFill>
                  <a:srgbClr val="FFFFFF"/>
                </a:solidFill>
                <a:latin typeface="Georgia"/>
                <a:ea typeface="Georgia"/>
                <a:cs typeface="Georgia"/>
                <a:sym typeface="Georgia"/>
              </a:rPr>
              <a:t>Business Focus: </a:t>
            </a:r>
            <a:r>
              <a:rPr lang="en-US" sz="1800" b="1" i="0" u="none" strike="noStrike" cap="none" dirty="0">
                <a:solidFill>
                  <a:srgbClr val="FFC000"/>
                </a:solidFill>
                <a:latin typeface="Georgia"/>
                <a:ea typeface="Georgia"/>
                <a:cs typeface="Georgia"/>
                <a:sym typeface="Georgia"/>
              </a:rPr>
              <a:t> </a:t>
            </a:r>
            <a:r>
              <a:rPr lang="en-US" sz="1800" b="1" i="1" u="none" strike="noStrike" cap="none" dirty="0">
                <a:solidFill>
                  <a:srgbClr val="FFC000"/>
                </a:solidFill>
                <a:latin typeface="Georgia"/>
                <a:ea typeface="Georgia"/>
                <a:cs typeface="Georgia"/>
                <a:sym typeface="Georgia"/>
              </a:rPr>
              <a:t>Brewery</a:t>
            </a:r>
            <a:r>
              <a:rPr lang="en-US" sz="1800" b="0" i="1" u="none" strike="noStrike" cap="none" dirty="0">
                <a:solidFill>
                  <a:srgbClr val="FFC000"/>
                </a:solidFill>
                <a:latin typeface="Georgia"/>
                <a:ea typeface="Georgia"/>
                <a:cs typeface="Georgia"/>
                <a:sym typeface="Georgia"/>
              </a:rPr>
              <a:t> </a:t>
            </a:r>
            <a:r>
              <a:rPr lang="en-US" sz="1800" i="1" dirty="0">
                <a:solidFill>
                  <a:srgbClr val="FFC000"/>
                </a:solidFill>
                <a:latin typeface="Georgia"/>
                <a:ea typeface="Georgia"/>
                <a:cs typeface="Georgia"/>
                <a:sym typeface="Georgia"/>
              </a:rPr>
              <a:t>I</a:t>
            </a:r>
            <a:r>
              <a:rPr lang="en-US" sz="1800" b="0" i="1" u="none" strike="noStrike" cap="none" dirty="0">
                <a:solidFill>
                  <a:srgbClr val="FFC000"/>
                </a:solidFill>
                <a:latin typeface="Georgia"/>
                <a:ea typeface="Georgia"/>
                <a:cs typeface="Georgia"/>
                <a:sym typeface="Georgia"/>
              </a:rPr>
              <a:t>ndustry</a:t>
            </a:r>
            <a:endParaRPr sz="1800" b="0" i="1" u="none" strike="noStrike" cap="none" dirty="0">
              <a:solidFill>
                <a:srgbClr val="FFC000"/>
              </a:solidFill>
              <a:latin typeface="Georgia"/>
              <a:ea typeface="Georgia"/>
              <a:cs typeface="Georgia"/>
              <a:sym typeface="Georgia"/>
            </a:endParaRPr>
          </a:p>
        </p:txBody>
      </p:sp>
      <p:sp>
        <p:nvSpPr>
          <p:cNvPr id="173" name="Google Shape;173;p1"/>
          <p:cNvSpPr txBox="1"/>
          <p:nvPr/>
        </p:nvSpPr>
        <p:spPr>
          <a:xfrm>
            <a:off x="13033926" y="4201163"/>
            <a:ext cx="4391100" cy="415500"/>
          </a:xfrm>
          <a:prstGeom prst="rect">
            <a:avLst/>
          </a:prstGeom>
          <a:noFill/>
          <a:ln>
            <a:noFill/>
          </a:ln>
        </p:spPr>
        <p:txBody>
          <a:bodyPr spcFirstLastPara="1" wrap="square" lIns="137125" tIns="68550" rIns="137125" bIns="68550" anchor="t" anchorCtr="0">
            <a:spAutoFit/>
          </a:bodyPr>
          <a:lstStyle/>
          <a:p>
            <a:pPr marL="0" marR="0" lvl="0" indent="0" algn="l" rtl="0">
              <a:spcBef>
                <a:spcPts val="0"/>
              </a:spcBef>
              <a:spcAft>
                <a:spcPts val="0"/>
              </a:spcAft>
              <a:buNone/>
            </a:pPr>
            <a:r>
              <a:rPr lang="en-US" sz="1800" b="1" i="0" u="none" strike="noStrike" cap="none" dirty="0">
                <a:solidFill>
                  <a:srgbClr val="FFFFFF"/>
                </a:solidFill>
                <a:latin typeface="Georgia"/>
                <a:ea typeface="Georgia"/>
                <a:cs typeface="Georgia"/>
                <a:sym typeface="Georgia"/>
              </a:rPr>
              <a:t>Tool:  </a:t>
            </a:r>
            <a:r>
              <a:rPr lang="en-US" sz="1800" b="1" i="1" dirty="0">
                <a:solidFill>
                  <a:srgbClr val="FFC000"/>
                </a:solidFill>
                <a:latin typeface="Georgia"/>
                <a:ea typeface="Georgia"/>
                <a:cs typeface="Georgia"/>
                <a:sym typeface="Georgia"/>
              </a:rPr>
              <a:t>Draw.io, fishbone</a:t>
            </a:r>
            <a:endParaRPr sz="1800" b="0" i="1" u="none" strike="noStrike" cap="none" dirty="0">
              <a:solidFill>
                <a:srgbClr val="FFC000"/>
              </a:solidFill>
              <a:latin typeface="Georgia"/>
              <a:ea typeface="Georgia"/>
              <a:cs typeface="Georgia"/>
              <a:sym typeface="Georgia"/>
            </a:endParaRPr>
          </a:p>
        </p:txBody>
      </p:sp>
      <p:sp>
        <p:nvSpPr>
          <p:cNvPr id="174" name="Google Shape;174;p1"/>
          <p:cNvSpPr/>
          <p:nvPr/>
        </p:nvSpPr>
        <p:spPr>
          <a:xfrm>
            <a:off x="567825" y="7011675"/>
            <a:ext cx="8980650" cy="2909250"/>
          </a:xfrm>
          <a:prstGeom prst="rect">
            <a:avLst/>
          </a:prstGeom>
          <a:solidFill>
            <a:srgbClr val="0C0C0C">
              <a:alpha val="77647"/>
            </a:srgbClr>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rgbClr val="FFFFFF"/>
              </a:solidFill>
              <a:latin typeface="Georgia"/>
              <a:ea typeface="Georgia"/>
              <a:cs typeface="Georgia"/>
              <a:sym typeface="Georgia"/>
            </a:endParaRPr>
          </a:p>
        </p:txBody>
      </p:sp>
      <p:sp>
        <p:nvSpPr>
          <p:cNvPr id="175" name="Google Shape;175;p1"/>
          <p:cNvSpPr/>
          <p:nvPr/>
        </p:nvSpPr>
        <p:spPr>
          <a:xfrm>
            <a:off x="9921038" y="7023300"/>
            <a:ext cx="7886700" cy="2909400"/>
          </a:xfrm>
          <a:prstGeom prst="rect">
            <a:avLst/>
          </a:prstGeom>
          <a:solidFill>
            <a:srgbClr val="0C0C0C">
              <a:alpha val="77647"/>
            </a:srgbClr>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b="0" i="0" u="none" strike="noStrike" cap="none">
              <a:solidFill>
                <a:srgbClr val="FFFFFF"/>
              </a:solidFill>
              <a:latin typeface="Georgia"/>
              <a:ea typeface="Georgia"/>
              <a:cs typeface="Georgia"/>
              <a:sym typeface="Georgia"/>
            </a:endParaRPr>
          </a:p>
        </p:txBody>
      </p:sp>
      <p:sp>
        <p:nvSpPr>
          <p:cNvPr id="176" name="Google Shape;176;p1"/>
          <p:cNvSpPr txBox="1"/>
          <p:nvPr/>
        </p:nvSpPr>
        <p:spPr>
          <a:xfrm>
            <a:off x="9921038" y="7219576"/>
            <a:ext cx="6570600" cy="1316100"/>
          </a:xfrm>
          <a:prstGeom prst="rect">
            <a:avLst/>
          </a:prstGeom>
          <a:noFill/>
          <a:ln>
            <a:noFill/>
          </a:ln>
        </p:spPr>
        <p:txBody>
          <a:bodyPr spcFirstLastPara="1" wrap="square" lIns="137125" tIns="68550" rIns="137125" bIns="68550" anchor="t" anchorCtr="0">
            <a:spAutoFit/>
          </a:bodyPr>
          <a:lstStyle/>
          <a:p>
            <a:pPr marL="0" marR="0" lvl="0" indent="0" algn="l" rtl="0">
              <a:spcBef>
                <a:spcPts val="0"/>
              </a:spcBef>
              <a:spcAft>
                <a:spcPts val="0"/>
              </a:spcAft>
              <a:buNone/>
            </a:pPr>
            <a:r>
              <a:rPr lang="en-US" sz="2700" b="1" i="0" u="none" strike="noStrike" cap="none" dirty="0">
                <a:solidFill>
                  <a:srgbClr val="FFFFFF"/>
                </a:solidFill>
                <a:latin typeface="Georgia"/>
                <a:ea typeface="Georgia"/>
                <a:cs typeface="Georgia"/>
                <a:sym typeface="Georgia"/>
              </a:rPr>
              <a:t>Tools and Technology to be Used</a:t>
            </a:r>
            <a:endParaRPr dirty="0"/>
          </a:p>
          <a:p>
            <a:pPr marL="0" marR="0" lvl="0" indent="0" algn="l" rtl="0">
              <a:spcBef>
                <a:spcPts val="0"/>
              </a:spcBef>
              <a:spcAft>
                <a:spcPts val="0"/>
              </a:spcAft>
              <a:buNone/>
            </a:pPr>
            <a:endParaRPr sz="2700" b="1" i="1" u="none" strike="noStrike" cap="none" dirty="0">
              <a:solidFill>
                <a:srgbClr val="FFFFFF"/>
              </a:solidFill>
              <a:latin typeface="Georgia"/>
              <a:ea typeface="Georgia"/>
              <a:cs typeface="Georgia"/>
              <a:sym typeface="Georgia"/>
            </a:endParaRPr>
          </a:p>
          <a:p>
            <a:pPr marL="0" marR="0" lvl="0" indent="0" algn="l" rtl="0">
              <a:spcBef>
                <a:spcPts val="0"/>
              </a:spcBef>
              <a:spcAft>
                <a:spcPts val="0"/>
              </a:spcAft>
              <a:buNone/>
            </a:pPr>
            <a:endParaRPr sz="2250" b="0" i="1" u="none" strike="noStrike" cap="none" dirty="0">
              <a:solidFill>
                <a:srgbClr val="FFC000"/>
              </a:solidFill>
              <a:latin typeface="Georgia"/>
              <a:ea typeface="Georgia"/>
              <a:cs typeface="Georgia"/>
              <a:sym typeface="Georgia"/>
            </a:endParaRPr>
          </a:p>
        </p:txBody>
      </p:sp>
      <p:sp>
        <p:nvSpPr>
          <p:cNvPr id="177" name="Google Shape;177;p1"/>
          <p:cNvSpPr txBox="1"/>
          <p:nvPr/>
        </p:nvSpPr>
        <p:spPr>
          <a:xfrm>
            <a:off x="709200" y="7219576"/>
            <a:ext cx="8434800" cy="1915849"/>
          </a:xfrm>
          <a:prstGeom prst="rect">
            <a:avLst/>
          </a:prstGeom>
          <a:noFill/>
          <a:ln>
            <a:noFill/>
          </a:ln>
        </p:spPr>
        <p:txBody>
          <a:bodyPr spcFirstLastPara="1" wrap="square" lIns="137125" tIns="68550" rIns="137125" bIns="68550" anchor="t" anchorCtr="0">
            <a:spAutoFit/>
          </a:bodyPr>
          <a:lstStyle/>
          <a:p>
            <a:pPr marL="0" marR="0" lvl="0" indent="0" algn="l" rtl="0">
              <a:spcBef>
                <a:spcPts val="0"/>
              </a:spcBef>
              <a:spcAft>
                <a:spcPts val="0"/>
              </a:spcAft>
              <a:buNone/>
            </a:pPr>
            <a:r>
              <a:rPr lang="en-US" sz="2700" b="1" i="0" u="none" strike="noStrike" cap="none" dirty="0">
                <a:solidFill>
                  <a:srgbClr val="FFFFFF"/>
                </a:solidFill>
                <a:latin typeface="Georgia"/>
                <a:ea typeface="Georgia"/>
                <a:cs typeface="Georgia"/>
                <a:sym typeface="Georgia"/>
              </a:rPr>
              <a:t>Project Learning Opportunities</a:t>
            </a:r>
            <a:br>
              <a:rPr lang="en-US" sz="2700" b="1" i="0" u="none" strike="noStrike" cap="none" dirty="0">
                <a:solidFill>
                  <a:srgbClr val="FFFFFF"/>
                </a:solidFill>
                <a:latin typeface="Georgia"/>
                <a:ea typeface="Georgia"/>
                <a:cs typeface="Georgia"/>
                <a:sym typeface="Georgia"/>
              </a:rPr>
            </a:br>
            <a:endParaRPr lang="en-US" sz="2250" b="1" i="1" u="none" strike="noStrike" cap="none" dirty="0">
              <a:solidFill>
                <a:srgbClr val="FFC000"/>
              </a:solidFill>
              <a:latin typeface="Georgia"/>
              <a:ea typeface="Georgia"/>
              <a:cs typeface="Georgia"/>
              <a:sym typeface="Georgia"/>
            </a:endParaRPr>
          </a:p>
          <a:p>
            <a:pPr marL="0" marR="0" lvl="0" indent="0" algn="l" rtl="0">
              <a:spcBef>
                <a:spcPts val="0"/>
              </a:spcBef>
              <a:spcAft>
                <a:spcPts val="0"/>
              </a:spcAft>
              <a:buNone/>
            </a:pPr>
            <a:r>
              <a:rPr lang="en-US" sz="2250" b="1" i="1" dirty="0">
                <a:solidFill>
                  <a:srgbClr val="FFC000"/>
                </a:solidFill>
                <a:latin typeface="Georgia"/>
                <a:ea typeface="Georgia"/>
                <a:cs typeface="Georgia"/>
                <a:sym typeface="Georgia"/>
              </a:rPr>
              <a:t>This case study is aimed at </a:t>
            </a:r>
            <a:r>
              <a:rPr lang="en-US" sz="2250" b="1" i="1" dirty="0" err="1">
                <a:solidFill>
                  <a:srgbClr val="FFC000"/>
                </a:solidFill>
                <a:latin typeface="Georgia"/>
                <a:ea typeface="Georgia"/>
                <a:cs typeface="Georgia"/>
                <a:sym typeface="Georgia"/>
              </a:rPr>
              <a:t>testingthe</a:t>
            </a:r>
            <a:r>
              <a:rPr lang="en-US" sz="2250" b="1" i="1" dirty="0">
                <a:solidFill>
                  <a:srgbClr val="FFC000"/>
                </a:solidFill>
                <a:latin typeface="Georgia"/>
                <a:ea typeface="Georgia"/>
                <a:cs typeface="Georgia"/>
                <a:sym typeface="Georgia"/>
              </a:rPr>
              <a:t> student’s understanding on gap analysis and process mapping</a:t>
            </a:r>
            <a:endParaRPr sz="2700" b="0" i="1" u="none" strike="noStrike" cap="none" dirty="0">
              <a:solidFill>
                <a:srgbClr val="FFC000"/>
              </a:solidFill>
              <a:latin typeface="Georgia"/>
              <a:ea typeface="Georgia"/>
              <a:cs typeface="Georgia"/>
              <a:sym typeface="Georgia"/>
            </a:endParaRPr>
          </a:p>
          <a:p>
            <a:pPr marL="0" marR="0" lvl="0" indent="0" algn="just" rtl="0">
              <a:spcBef>
                <a:spcPts val="0"/>
              </a:spcBef>
              <a:spcAft>
                <a:spcPts val="0"/>
              </a:spcAft>
              <a:buNone/>
            </a:pPr>
            <a:endParaRPr sz="2100" b="0" i="0" u="none" strike="noStrike" cap="none" dirty="0">
              <a:solidFill>
                <a:srgbClr val="FFFFFF"/>
              </a:solidFill>
              <a:latin typeface="Georgia"/>
              <a:ea typeface="Georgia"/>
              <a:cs typeface="Georgia"/>
              <a:sym typeface="Georgia"/>
            </a:endParaRPr>
          </a:p>
        </p:txBody>
      </p:sp>
      <p:pic>
        <p:nvPicPr>
          <p:cNvPr id="3" name="Picture 2">
            <a:extLst>
              <a:ext uri="{FF2B5EF4-FFF2-40B4-BE49-F238E27FC236}">
                <a16:creationId xmlns="" xmlns:a16="http://schemas.microsoft.com/office/drawing/2014/main" id="{14E6FC8A-2370-4D4C-B461-506444DF0B21}"/>
              </a:ext>
            </a:extLst>
          </p:cNvPr>
          <p:cNvPicPr>
            <a:picLocks noChangeAspect="1"/>
          </p:cNvPicPr>
          <p:nvPr/>
        </p:nvPicPr>
        <p:blipFill>
          <a:blip r:embed="rId3">
            <a:extLst>
              <a:ext uri="{837473B0-CC2E-450A-ABE3-18F120FF3D39}">
                <a1611:picAttrSrcUrl xmlns="" xmlns:a1611="http://schemas.microsoft.com/office/drawing/2016/11/main" r:id="rId4"/>
              </a:ext>
            </a:extLst>
          </a:blip>
          <a:stretch>
            <a:fillRect/>
          </a:stretch>
        </p:blipFill>
        <p:spPr>
          <a:xfrm>
            <a:off x="12115138" y="7868360"/>
            <a:ext cx="1381050" cy="1381050"/>
          </a:xfrm>
          <a:prstGeom prst="rect">
            <a:avLst/>
          </a:prstGeom>
        </p:spPr>
      </p:pic>
      <p:pic>
        <p:nvPicPr>
          <p:cNvPr id="4" name="Picture 3">
            <a:extLst>
              <a:ext uri="{FF2B5EF4-FFF2-40B4-BE49-F238E27FC236}">
                <a16:creationId xmlns="" xmlns:a16="http://schemas.microsoft.com/office/drawing/2014/main" id="{7EB294D1-51E6-4CA6-A2F8-58C16B2D5558}"/>
              </a:ext>
            </a:extLst>
          </p:cNvPr>
          <p:cNvPicPr>
            <a:picLocks noChangeAspect="1"/>
          </p:cNvPicPr>
          <p:nvPr/>
        </p:nvPicPr>
        <p:blipFill>
          <a:blip r:embed="rId5">
            <a:extLst>
              <a:ext uri="{837473B0-CC2E-450A-ABE3-18F120FF3D39}">
                <a1611:picAttrSrcUrl xmlns="" xmlns:a1611="http://schemas.microsoft.com/office/drawing/2016/11/main" r:id="rId6"/>
              </a:ext>
            </a:extLst>
          </a:blip>
          <a:stretch>
            <a:fillRect/>
          </a:stretch>
        </p:blipFill>
        <p:spPr>
          <a:xfrm>
            <a:off x="14045499" y="8027894"/>
            <a:ext cx="1042101" cy="10564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pic>
        <p:nvPicPr>
          <p:cNvPr id="182" name="Google Shape;182;p2"/>
          <p:cNvPicPr preferRelativeResize="0"/>
          <p:nvPr/>
        </p:nvPicPr>
        <p:blipFill rotWithShape="1">
          <a:blip r:embed="rId3">
            <a:alphaModFix/>
          </a:blip>
          <a:srcRect/>
          <a:stretch/>
        </p:blipFill>
        <p:spPr>
          <a:xfrm>
            <a:off x="0" y="0"/>
            <a:ext cx="18288000" cy="10287000"/>
          </a:xfrm>
          <a:prstGeom prst="rect">
            <a:avLst/>
          </a:prstGeom>
          <a:blipFill rotWithShape="1">
            <a:blip r:embed="rId4">
              <a:alphaModFix/>
            </a:blip>
            <a:tile tx="0" ty="0" sx="100000" sy="100000" flip="none" algn="tl"/>
          </a:blipFill>
          <a:ln>
            <a:noFill/>
          </a:ln>
        </p:spPr>
      </p:pic>
      <p:sp>
        <p:nvSpPr>
          <p:cNvPr id="183" name="Google Shape;183;p2"/>
          <p:cNvSpPr/>
          <p:nvPr/>
        </p:nvSpPr>
        <p:spPr>
          <a:xfrm>
            <a:off x="2458" y="-1"/>
            <a:ext cx="11275200" cy="10287000"/>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sp>
        <p:nvSpPr>
          <p:cNvPr id="184" name="Google Shape;184;p2"/>
          <p:cNvSpPr/>
          <p:nvPr/>
        </p:nvSpPr>
        <p:spPr>
          <a:xfrm>
            <a:off x="14016" y="1028700"/>
            <a:ext cx="6996398" cy="1095594"/>
          </a:xfrm>
          <a:custGeom>
            <a:avLst/>
            <a:gdLst/>
            <a:ahLst/>
            <a:cxnLst/>
            <a:rect l="l" t="t" r="r" b="b"/>
            <a:pathLst>
              <a:path w="9328531" h="1905381" extrusionOk="0">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sp>
        <p:nvSpPr>
          <p:cNvPr id="185" name="Google Shape;185;p2"/>
          <p:cNvSpPr/>
          <p:nvPr/>
        </p:nvSpPr>
        <p:spPr>
          <a:xfrm>
            <a:off x="6782472" y="1059455"/>
            <a:ext cx="608933" cy="1095594"/>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sp>
        <p:nvSpPr>
          <p:cNvPr id="186" name="Google Shape;186;p2"/>
          <p:cNvSpPr/>
          <p:nvPr/>
        </p:nvSpPr>
        <p:spPr>
          <a:xfrm>
            <a:off x="7215129" y="1059455"/>
            <a:ext cx="608933" cy="1095594"/>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sp>
        <p:nvSpPr>
          <p:cNvPr id="187" name="Google Shape;187;p2"/>
          <p:cNvSpPr/>
          <p:nvPr/>
        </p:nvSpPr>
        <p:spPr>
          <a:xfrm>
            <a:off x="0" y="2705100"/>
            <a:ext cx="11028671" cy="7242340"/>
          </a:xfrm>
          <a:custGeom>
            <a:avLst/>
            <a:gdLst/>
            <a:ahLst/>
            <a:cxnLst/>
            <a:rect l="l" t="t" r="r" b="b"/>
            <a:pathLst>
              <a:path w="16399511" h="7466330" extrusionOk="0">
                <a:moveTo>
                  <a:pt x="0" y="0"/>
                </a:moveTo>
                <a:lnTo>
                  <a:pt x="16399511" y="0"/>
                </a:lnTo>
                <a:lnTo>
                  <a:pt x="16399511" y="7466330"/>
                </a:lnTo>
                <a:lnTo>
                  <a:pt x="0" y="746633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88" name="Google Shape;188;p2"/>
          <p:cNvSpPr txBox="1"/>
          <p:nvPr/>
        </p:nvSpPr>
        <p:spPr>
          <a:xfrm>
            <a:off x="324674" y="2982108"/>
            <a:ext cx="7228500" cy="429300"/>
          </a:xfrm>
          <a:prstGeom prst="rect">
            <a:avLst/>
          </a:prstGeom>
          <a:noFill/>
          <a:ln>
            <a:noFill/>
          </a:ln>
        </p:spPr>
        <p:txBody>
          <a:bodyPr spcFirstLastPara="1" wrap="square" lIns="0" tIns="0" rIns="0" bIns="0" anchor="t" anchorCtr="0">
            <a:spAutoFit/>
          </a:bodyPr>
          <a:lstStyle/>
          <a:p>
            <a:pPr marL="0" marR="0" lvl="0" indent="0" algn="l" rtl="0">
              <a:lnSpc>
                <a:spcPct val="128571"/>
              </a:lnSpc>
              <a:spcBef>
                <a:spcPts val="0"/>
              </a:spcBef>
              <a:spcAft>
                <a:spcPts val="0"/>
              </a:spcAft>
              <a:buNone/>
            </a:pPr>
            <a:r>
              <a:rPr lang="en-US" sz="2800" b="1" dirty="0">
                <a:solidFill>
                  <a:srgbClr val="FFFFFF"/>
                </a:solidFill>
                <a:latin typeface="Georgia"/>
                <a:ea typeface="Georgia"/>
                <a:cs typeface="Georgia"/>
                <a:sym typeface="Georgia"/>
              </a:rPr>
              <a:t>Introduction to the Business</a:t>
            </a:r>
            <a:endParaRPr dirty="0"/>
          </a:p>
        </p:txBody>
      </p:sp>
      <p:sp>
        <p:nvSpPr>
          <p:cNvPr id="189" name="Google Shape;189;p2"/>
          <p:cNvSpPr txBox="1"/>
          <p:nvPr/>
        </p:nvSpPr>
        <p:spPr>
          <a:xfrm>
            <a:off x="324674" y="1257300"/>
            <a:ext cx="6375000" cy="508500"/>
          </a:xfrm>
          <a:prstGeom prst="rect">
            <a:avLst/>
          </a:prstGeom>
          <a:noFill/>
          <a:ln>
            <a:noFill/>
          </a:ln>
        </p:spPr>
        <p:txBody>
          <a:bodyPr spcFirstLastPara="1" wrap="square" lIns="0" tIns="0" rIns="0" bIns="0" anchor="t" anchorCtr="0">
            <a:spAutoFit/>
          </a:bodyPr>
          <a:lstStyle/>
          <a:p>
            <a:pPr marL="0" marR="0" lvl="0" indent="0" algn="l" rtl="0">
              <a:lnSpc>
                <a:spcPct val="154285"/>
              </a:lnSpc>
              <a:spcBef>
                <a:spcPts val="0"/>
              </a:spcBef>
              <a:spcAft>
                <a:spcPts val="0"/>
              </a:spcAft>
              <a:buNone/>
            </a:pPr>
            <a:r>
              <a:rPr lang="en-US" sz="2800" b="1">
                <a:solidFill>
                  <a:srgbClr val="FFFFFF"/>
                </a:solidFill>
                <a:latin typeface="Georgia"/>
                <a:ea typeface="Georgia"/>
                <a:cs typeface="Georgia"/>
                <a:sym typeface="Georgia"/>
              </a:rPr>
              <a:t>Case Study Overview</a:t>
            </a:r>
            <a:endParaRPr/>
          </a:p>
        </p:txBody>
      </p:sp>
      <p:pic>
        <p:nvPicPr>
          <p:cNvPr id="190" name="Google Shape;190;p2"/>
          <p:cNvPicPr preferRelativeResize="0"/>
          <p:nvPr/>
        </p:nvPicPr>
        <p:blipFill rotWithShape="1">
          <a:blip r:embed="rId5">
            <a:alphaModFix/>
          </a:blip>
          <a:srcRect/>
          <a:stretch/>
        </p:blipFill>
        <p:spPr>
          <a:xfrm>
            <a:off x="248787" y="181815"/>
            <a:ext cx="1781175" cy="523875"/>
          </a:xfrm>
          <a:prstGeom prst="rect">
            <a:avLst/>
          </a:prstGeom>
          <a:noFill/>
          <a:ln>
            <a:noFill/>
          </a:ln>
        </p:spPr>
      </p:pic>
      <p:sp>
        <p:nvSpPr>
          <p:cNvPr id="191" name="Google Shape;191;p2"/>
          <p:cNvSpPr/>
          <p:nvPr/>
        </p:nvSpPr>
        <p:spPr>
          <a:xfrm>
            <a:off x="320506" y="3556381"/>
            <a:ext cx="10419600" cy="5994600"/>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Arial"/>
              <a:ea typeface="Arial"/>
              <a:cs typeface="Arial"/>
              <a:sym typeface="Arial"/>
            </a:endParaRPr>
          </a:p>
        </p:txBody>
      </p:sp>
      <p:sp>
        <p:nvSpPr>
          <p:cNvPr id="192" name="Google Shape;192;p2"/>
          <p:cNvSpPr txBox="1"/>
          <p:nvPr/>
        </p:nvSpPr>
        <p:spPr>
          <a:xfrm>
            <a:off x="11963400" y="3959360"/>
            <a:ext cx="5638800" cy="17544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00"/>
              </a:buClr>
              <a:buSzPts val="3600"/>
              <a:buFont typeface="Georgia"/>
              <a:buNone/>
            </a:pPr>
            <a:r>
              <a:rPr lang="en-US" sz="3600" b="1" i="1">
                <a:solidFill>
                  <a:srgbClr val="FFFF00"/>
                </a:solidFill>
                <a:latin typeface="Georgia"/>
                <a:ea typeface="Georgia"/>
                <a:cs typeface="Georgia"/>
                <a:sym typeface="Georgia"/>
              </a:rPr>
              <a:t>PNG ILLUSTRATION OF THE TYPE OF BUSINESS </a:t>
            </a:r>
            <a:endParaRPr sz="5400" b="1" i="1">
              <a:solidFill>
                <a:srgbClr val="FFFF00"/>
              </a:solidFill>
              <a:latin typeface="Georgia"/>
              <a:ea typeface="Georgia"/>
              <a:cs typeface="Georgia"/>
              <a:sym typeface="Georgia"/>
            </a:endParaRPr>
          </a:p>
        </p:txBody>
      </p:sp>
      <p:sp>
        <p:nvSpPr>
          <p:cNvPr id="193" name="Google Shape;193;p2"/>
          <p:cNvSpPr txBox="1"/>
          <p:nvPr/>
        </p:nvSpPr>
        <p:spPr>
          <a:xfrm>
            <a:off x="371007" y="3959360"/>
            <a:ext cx="10419599" cy="4524315"/>
          </a:xfrm>
          <a:prstGeom prst="rect">
            <a:avLst/>
          </a:prstGeom>
          <a:noFill/>
          <a:ln>
            <a:noFill/>
          </a:ln>
        </p:spPr>
        <p:txBody>
          <a:bodyPr spcFirstLastPara="1" wrap="square" lIns="0" tIns="0" rIns="0" bIns="0" anchor="t" anchorCtr="0">
            <a:spAutoFit/>
          </a:bodyPr>
          <a:lstStyle/>
          <a:p>
            <a:pPr lvl="0">
              <a:lnSpc>
                <a:spcPct val="150000"/>
              </a:lnSpc>
            </a:pPr>
            <a:r>
              <a:rPr lang="en-US" sz="2800" dirty="0">
                <a:solidFill>
                  <a:schemeClr val="lt1"/>
                </a:solidFill>
                <a:latin typeface="Georgia"/>
                <a:ea typeface="Georgia"/>
                <a:cs typeface="Georgia"/>
                <a:sym typeface="Georgia"/>
              </a:rPr>
              <a:t>Barrel &amp; Brew is a popular, family-owned craft winery that has been operating for a decade. Known for its unique, small-batch Wine, the company has built a loyal following in its local region. Over the past year, Barrel &amp; Brew has seen a surge in demand, with its products now stocked in over 500 local restaurants. While this growth is a positive sign, the company is struggling to keep up.</a:t>
            </a:r>
            <a:endParaRPr sz="2800" dirty="0">
              <a:solidFill>
                <a:schemeClr val="lt1"/>
              </a:solidFill>
              <a:latin typeface="Georgia"/>
              <a:ea typeface="Georgia"/>
              <a:cs typeface="Georgia"/>
              <a:sym typeface="Georgia"/>
            </a:endParaRPr>
          </a:p>
        </p:txBody>
      </p:sp>
      <p:pic>
        <p:nvPicPr>
          <p:cNvPr id="6" name="Picture 5">
            <a:extLst>
              <a:ext uri="{FF2B5EF4-FFF2-40B4-BE49-F238E27FC236}">
                <a16:creationId xmlns="" xmlns:a16="http://schemas.microsoft.com/office/drawing/2014/main" id="{73B9C468-E442-4DC9-9CDF-1C0465A8290E}"/>
              </a:ext>
            </a:extLst>
          </p:cNvPr>
          <p:cNvPicPr>
            <a:picLocks noChangeAspect="1"/>
          </p:cNvPicPr>
          <p:nvPr/>
        </p:nvPicPr>
        <p:blipFill>
          <a:blip r:embed="rId6">
            <a:extLst>
              <a:ext uri="{837473B0-CC2E-450A-ABE3-18F120FF3D39}">
                <a1611:picAttrSrcUrl xmlns="" xmlns:a1611="http://schemas.microsoft.com/office/drawing/2016/11/main" r:id="rId7"/>
              </a:ext>
            </a:extLst>
          </a:blip>
          <a:stretch>
            <a:fillRect/>
          </a:stretch>
        </p:blipFill>
        <p:spPr>
          <a:xfrm>
            <a:off x="11328158" y="0"/>
            <a:ext cx="6959842" cy="10287000"/>
          </a:xfrm>
          <a:prstGeom prst="rect">
            <a:avLst/>
          </a:prstGeom>
        </p:spPr>
      </p:pic>
    </p:spTree>
    <p:extLst>
      <p:ext uri="{BB962C8B-B14F-4D97-AF65-F5344CB8AC3E}">
        <p14:creationId xmlns:p14="http://schemas.microsoft.com/office/powerpoint/2010/main" val="3759098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
          <p:cNvSpPr/>
          <p:nvPr/>
        </p:nvSpPr>
        <p:spPr>
          <a:xfrm>
            <a:off x="6934200" y="0"/>
            <a:ext cx="11391900" cy="10286999"/>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Arial"/>
              <a:ea typeface="Arial"/>
              <a:cs typeface="Arial"/>
              <a:sym typeface="Arial"/>
            </a:endParaRPr>
          </a:p>
        </p:txBody>
      </p:sp>
      <p:pic>
        <p:nvPicPr>
          <p:cNvPr id="201" name="Google Shape;201;p3"/>
          <p:cNvPicPr preferRelativeResize="0"/>
          <p:nvPr/>
        </p:nvPicPr>
        <p:blipFill rotWithShape="1">
          <a:blip r:embed="rId3">
            <a:alphaModFix/>
          </a:blip>
          <a:srcRect/>
          <a:stretch/>
        </p:blipFill>
        <p:spPr>
          <a:xfrm>
            <a:off x="15673389" y="49302"/>
            <a:ext cx="1761996" cy="457325"/>
          </a:xfrm>
          <a:prstGeom prst="rect">
            <a:avLst/>
          </a:prstGeom>
          <a:noFill/>
          <a:ln>
            <a:noFill/>
          </a:ln>
        </p:spPr>
      </p:pic>
      <p:sp>
        <p:nvSpPr>
          <p:cNvPr id="202" name="Google Shape;202;p3"/>
          <p:cNvSpPr/>
          <p:nvPr/>
        </p:nvSpPr>
        <p:spPr>
          <a:xfrm>
            <a:off x="7239000" y="2095501"/>
            <a:ext cx="10888312" cy="8000981"/>
          </a:xfrm>
          <a:custGeom>
            <a:avLst/>
            <a:gdLst/>
            <a:ahLst/>
            <a:cxnLst/>
            <a:rect l="l" t="t" r="r" b="b"/>
            <a:pathLst>
              <a:path w="16399511" h="7466330" extrusionOk="0">
                <a:moveTo>
                  <a:pt x="0" y="0"/>
                </a:moveTo>
                <a:lnTo>
                  <a:pt x="16399511" y="0"/>
                </a:lnTo>
                <a:lnTo>
                  <a:pt x="16399511" y="7466330"/>
                </a:lnTo>
                <a:lnTo>
                  <a:pt x="0" y="746633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3"/>
          <p:cNvSpPr/>
          <p:nvPr/>
        </p:nvSpPr>
        <p:spPr>
          <a:xfrm>
            <a:off x="7315818" y="3205362"/>
            <a:ext cx="10891838" cy="6775164"/>
          </a:xfrm>
          <a:prstGeom prst="rect">
            <a:avLst/>
          </a:prstGeom>
          <a:solidFill>
            <a:srgbClr val="0C0C0C">
              <a:alpha val="60000"/>
            </a:srgbClr>
          </a:solidFill>
          <a:ln>
            <a:noFill/>
          </a:ln>
        </p:spPr>
        <p:txBody>
          <a:bodyPr spcFirstLastPara="1" wrap="square" lIns="91425" tIns="45700" rIns="91425" bIns="45700" anchor="ctr" anchorCtr="0">
            <a:noAutofit/>
          </a:bodyPr>
          <a:lstStyle/>
          <a:p>
            <a:pPr lvl="0">
              <a:buClr>
                <a:schemeClr val="dk1"/>
              </a:buClr>
              <a:buSzPts val="1800"/>
            </a:pPr>
            <a:r>
              <a:rPr lang="en-US" sz="2800" b="1" dirty="0">
                <a:solidFill>
                  <a:schemeClr val="lt1"/>
                </a:solidFill>
                <a:latin typeface="Georgia"/>
                <a:ea typeface="Georgia"/>
                <a:cs typeface="Georgia"/>
                <a:sym typeface="Georgia"/>
              </a:rPr>
              <a:t>The increase in demand has exposed significant weaknesses in the company's operations. The following issues are now a regular occurrence: </a:t>
            </a:r>
          </a:p>
          <a:p>
            <a:pPr lvl="0">
              <a:buClr>
                <a:schemeClr val="dk1"/>
              </a:buClr>
              <a:buSzPts val="1800"/>
            </a:pPr>
            <a:endParaRPr lang="en-US" sz="2800" dirty="0">
              <a:solidFill>
                <a:schemeClr val="lt1"/>
              </a:solidFill>
              <a:latin typeface="Georgia"/>
              <a:ea typeface="Georgia"/>
              <a:cs typeface="Georgia"/>
              <a:sym typeface="Georgia"/>
            </a:endParaRPr>
          </a:p>
          <a:p>
            <a:pPr lvl="0">
              <a:buClr>
                <a:schemeClr val="dk1"/>
              </a:buClr>
              <a:buSzPts val="1800"/>
            </a:pPr>
            <a:r>
              <a:rPr lang="en-US" sz="2800" b="1" dirty="0">
                <a:solidFill>
                  <a:schemeClr val="lt1"/>
                </a:solidFill>
                <a:latin typeface="Georgia"/>
                <a:ea typeface="Georgia"/>
                <a:cs typeface="Georgia"/>
                <a:sym typeface="Georgia"/>
              </a:rPr>
              <a:t>Production Delays</a:t>
            </a:r>
            <a:r>
              <a:rPr lang="en-US" sz="2800" dirty="0">
                <a:solidFill>
                  <a:schemeClr val="lt1"/>
                </a:solidFill>
                <a:latin typeface="Georgia"/>
                <a:ea typeface="Georgia"/>
                <a:cs typeface="Georgia"/>
                <a:sym typeface="Georgia"/>
              </a:rPr>
              <a:t>: The brewery consistently fails to meet its weekly production targets. This has led to inventory shortages, with popular beers frequently out of stock for days at a time. </a:t>
            </a:r>
          </a:p>
          <a:p>
            <a:pPr lvl="0">
              <a:buClr>
                <a:schemeClr val="dk1"/>
              </a:buClr>
              <a:buSzPts val="1800"/>
            </a:pPr>
            <a:endParaRPr lang="en-US" sz="2800" dirty="0">
              <a:solidFill>
                <a:schemeClr val="lt1"/>
              </a:solidFill>
              <a:latin typeface="Georgia"/>
              <a:ea typeface="Georgia"/>
              <a:cs typeface="Georgia"/>
              <a:sym typeface="Georgia"/>
            </a:endParaRPr>
          </a:p>
          <a:p>
            <a:pPr lvl="0">
              <a:buClr>
                <a:schemeClr val="dk1"/>
              </a:buClr>
              <a:buSzPts val="1800"/>
            </a:pPr>
            <a:r>
              <a:rPr lang="en-US" sz="2800" b="1" dirty="0">
                <a:solidFill>
                  <a:schemeClr val="lt1"/>
                </a:solidFill>
                <a:latin typeface="Georgia"/>
                <a:ea typeface="Georgia"/>
                <a:cs typeface="Georgia"/>
                <a:sym typeface="Georgia"/>
              </a:rPr>
              <a:t>Quality Inconsistency</a:t>
            </a:r>
            <a:r>
              <a:rPr lang="en-US" sz="2800" dirty="0">
                <a:solidFill>
                  <a:schemeClr val="lt1"/>
                </a:solidFill>
                <a:latin typeface="Georgia"/>
                <a:ea typeface="Georgia"/>
                <a:cs typeface="Georgia"/>
                <a:sym typeface="Georgia"/>
              </a:rPr>
              <a:t>: Batches of the same beer have started to taste slightly different. On two separate occasions, an entire batch had to be discarded due to a sour taste, resulting in a significant financial loss.</a:t>
            </a:r>
          </a:p>
        </p:txBody>
      </p:sp>
      <p:sp>
        <p:nvSpPr>
          <p:cNvPr id="204" name="Google Shape;204;p3"/>
          <p:cNvSpPr txBox="1"/>
          <p:nvPr/>
        </p:nvSpPr>
        <p:spPr>
          <a:xfrm>
            <a:off x="8915400" y="2247900"/>
            <a:ext cx="8955741" cy="692437"/>
          </a:xfrm>
          <a:prstGeom prst="rect">
            <a:avLst/>
          </a:prstGeom>
          <a:noFill/>
          <a:ln>
            <a:noFill/>
          </a:ln>
        </p:spPr>
        <p:txBody>
          <a:bodyPr spcFirstLastPara="1" wrap="square" lIns="137125" tIns="68550" rIns="137125" bIns="68550" anchor="t" anchorCtr="0">
            <a:spAutoFit/>
          </a:bodyPr>
          <a:lstStyle/>
          <a:p>
            <a:pPr marL="0" marR="0" lvl="0" indent="0" algn="r" rtl="0">
              <a:spcBef>
                <a:spcPts val="0"/>
              </a:spcBef>
              <a:spcAft>
                <a:spcPts val="0"/>
              </a:spcAft>
              <a:buNone/>
            </a:pPr>
            <a:r>
              <a:rPr lang="en-US" sz="3600" b="1" dirty="0">
                <a:solidFill>
                  <a:schemeClr val="lt1"/>
                </a:solidFill>
                <a:latin typeface="Georgia"/>
                <a:ea typeface="Georgia"/>
                <a:cs typeface="Georgia"/>
                <a:sym typeface="Georgia"/>
              </a:rPr>
              <a:t>Challenges Encountered</a:t>
            </a:r>
            <a:endParaRPr sz="2700" dirty="0">
              <a:solidFill>
                <a:schemeClr val="dk1"/>
              </a:solidFill>
              <a:latin typeface="Georgia"/>
              <a:ea typeface="Georgia"/>
              <a:cs typeface="Georgia"/>
              <a:sym typeface="Georgia"/>
            </a:endParaRPr>
          </a:p>
        </p:txBody>
      </p:sp>
      <p:grpSp>
        <p:nvGrpSpPr>
          <p:cNvPr id="205" name="Google Shape;205;p3"/>
          <p:cNvGrpSpPr/>
          <p:nvPr/>
        </p:nvGrpSpPr>
        <p:grpSpPr>
          <a:xfrm flipH="1">
            <a:off x="10516054" y="705690"/>
            <a:ext cx="7810046" cy="1124786"/>
            <a:chOff x="10744200" y="907230"/>
            <a:chExt cx="7810046" cy="1124786"/>
          </a:xfrm>
        </p:grpSpPr>
        <p:sp>
          <p:nvSpPr>
            <p:cNvPr id="206" name="Google Shape;206;p3"/>
            <p:cNvSpPr/>
            <p:nvPr/>
          </p:nvSpPr>
          <p:spPr>
            <a:xfrm>
              <a:off x="10744200" y="907230"/>
              <a:ext cx="6996398" cy="1094033"/>
            </a:xfrm>
            <a:custGeom>
              <a:avLst/>
              <a:gdLst/>
              <a:ahLst/>
              <a:cxnLst/>
              <a:rect l="l" t="t" r="r" b="b"/>
              <a:pathLst>
                <a:path w="9328531" h="1905381" extrusionOk="0">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7" name="Google Shape;207;p3"/>
            <p:cNvSpPr/>
            <p:nvPr/>
          </p:nvSpPr>
          <p:spPr>
            <a:xfrm>
              <a:off x="17512656"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8" name="Google Shape;208;p3"/>
            <p:cNvSpPr/>
            <p:nvPr/>
          </p:nvSpPr>
          <p:spPr>
            <a:xfrm>
              <a:off x="17945313"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grpSp>
      <p:sp>
        <p:nvSpPr>
          <p:cNvPr id="209" name="Google Shape;209;p3"/>
          <p:cNvSpPr txBox="1"/>
          <p:nvPr/>
        </p:nvSpPr>
        <p:spPr>
          <a:xfrm>
            <a:off x="11565909" y="1010667"/>
            <a:ext cx="6375082" cy="551433"/>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3600" b="1">
                <a:solidFill>
                  <a:srgbClr val="FFFFFF"/>
                </a:solidFill>
                <a:latin typeface="Georgia"/>
                <a:ea typeface="Georgia"/>
                <a:cs typeface="Georgia"/>
                <a:sym typeface="Georgia"/>
              </a:rPr>
              <a:t>Case Study Overview</a:t>
            </a:r>
            <a:endParaRPr/>
          </a:p>
        </p:txBody>
      </p:sp>
      <p:sp>
        <p:nvSpPr>
          <p:cNvPr id="210" name="Google Shape;210;p3"/>
          <p:cNvSpPr txBox="1"/>
          <p:nvPr/>
        </p:nvSpPr>
        <p:spPr>
          <a:xfrm>
            <a:off x="647700" y="3742059"/>
            <a:ext cx="5638800"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00"/>
              </a:buClr>
              <a:buSzPts val="3600"/>
              <a:buFont typeface="Georgia"/>
              <a:buNone/>
            </a:pPr>
            <a:r>
              <a:rPr lang="en-US" sz="3600" b="1">
                <a:solidFill>
                  <a:srgbClr val="FFFF00"/>
                </a:solidFill>
                <a:latin typeface="Georgia"/>
                <a:ea typeface="Georgia"/>
                <a:cs typeface="Georgia"/>
                <a:sym typeface="Georgia"/>
              </a:rPr>
              <a:t>PNG ILLUSTRATION OF THE BUSINESS CHALLENGE</a:t>
            </a:r>
            <a:endParaRPr sz="5400" b="1">
              <a:solidFill>
                <a:srgbClr val="FFFF00"/>
              </a:solidFill>
              <a:latin typeface="Georgia"/>
              <a:ea typeface="Georgia"/>
              <a:cs typeface="Georgia"/>
              <a:sym typeface="Georgia"/>
            </a:endParaRPr>
          </a:p>
        </p:txBody>
      </p:sp>
      <p:pic>
        <p:nvPicPr>
          <p:cNvPr id="3" name="Picture 2">
            <a:extLst>
              <a:ext uri="{FF2B5EF4-FFF2-40B4-BE49-F238E27FC236}">
                <a16:creationId xmlns="" xmlns:a16="http://schemas.microsoft.com/office/drawing/2014/main" id="{7A19508B-7E05-44FE-B73B-EFA5D40C1FE8}"/>
              </a:ext>
            </a:extLst>
          </p:cNvPr>
          <p:cNvPicPr>
            <a:picLocks noChangeAspect="1"/>
          </p:cNvPicPr>
          <p:nvPr/>
        </p:nvPicPr>
        <p:blipFill>
          <a:blip r:embed="rId4">
            <a:extLst>
              <a:ext uri="{837473B0-CC2E-450A-ABE3-18F120FF3D39}">
                <a1611:picAttrSrcUrl xmlns="" xmlns:a1611="http://schemas.microsoft.com/office/drawing/2016/11/main" r:id="rId5"/>
              </a:ext>
            </a:extLst>
          </a:blip>
          <a:stretch>
            <a:fillRect/>
          </a:stretch>
        </p:blipFill>
        <p:spPr>
          <a:xfrm>
            <a:off x="-24887" y="0"/>
            <a:ext cx="6983186" cy="1030332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
          <p:cNvSpPr/>
          <p:nvPr/>
        </p:nvSpPr>
        <p:spPr>
          <a:xfrm>
            <a:off x="6934200" y="0"/>
            <a:ext cx="11391900" cy="10286999"/>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Arial"/>
              <a:ea typeface="Arial"/>
              <a:cs typeface="Arial"/>
              <a:sym typeface="Arial"/>
            </a:endParaRPr>
          </a:p>
        </p:txBody>
      </p:sp>
      <p:pic>
        <p:nvPicPr>
          <p:cNvPr id="201" name="Google Shape;201;p3"/>
          <p:cNvPicPr preferRelativeResize="0"/>
          <p:nvPr/>
        </p:nvPicPr>
        <p:blipFill rotWithShape="1">
          <a:blip r:embed="rId3">
            <a:alphaModFix/>
          </a:blip>
          <a:srcRect/>
          <a:stretch/>
        </p:blipFill>
        <p:spPr>
          <a:xfrm>
            <a:off x="15673389" y="49302"/>
            <a:ext cx="1761996" cy="457325"/>
          </a:xfrm>
          <a:prstGeom prst="rect">
            <a:avLst/>
          </a:prstGeom>
          <a:noFill/>
          <a:ln>
            <a:noFill/>
          </a:ln>
        </p:spPr>
      </p:pic>
      <p:sp>
        <p:nvSpPr>
          <p:cNvPr id="202" name="Google Shape;202;p3"/>
          <p:cNvSpPr/>
          <p:nvPr/>
        </p:nvSpPr>
        <p:spPr>
          <a:xfrm>
            <a:off x="7239000" y="2095501"/>
            <a:ext cx="10888312" cy="8000981"/>
          </a:xfrm>
          <a:custGeom>
            <a:avLst/>
            <a:gdLst/>
            <a:ahLst/>
            <a:cxnLst/>
            <a:rect l="l" t="t" r="r" b="b"/>
            <a:pathLst>
              <a:path w="16399511" h="7466330" extrusionOk="0">
                <a:moveTo>
                  <a:pt x="0" y="0"/>
                </a:moveTo>
                <a:lnTo>
                  <a:pt x="16399511" y="0"/>
                </a:lnTo>
                <a:lnTo>
                  <a:pt x="16399511" y="7466330"/>
                </a:lnTo>
                <a:lnTo>
                  <a:pt x="0" y="746633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3"/>
          <p:cNvSpPr/>
          <p:nvPr/>
        </p:nvSpPr>
        <p:spPr>
          <a:xfrm>
            <a:off x="7315818" y="3205362"/>
            <a:ext cx="10891838" cy="6775164"/>
          </a:xfrm>
          <a:prstGeom prst="rect">
            <a:avLst/>
          </a:prstGeom>
          <a:solidFill>
            <a:srgbClr val="0C0C0C">
              <a:alpha val="60000"/>
            </a:srgbClr>
          </a:solidFill>
          <a:ln>
            <a:noFill/>
          </a:ln>
        </p:spPr>
        <p:txBody>
          <a:bodyPr spcFirstLastPara="1" wrap="square" lIns="91425" tIns="45700" rIns="91425" bIns="45700" anchor="ctr" anchorCtr="0">
            <a:noAutofit/>
          </a:bodyPr>
          <a:lstStyle/>
          <a:p>
            <a:pPr lvl="0">
              <a:buClr>
                <a:schemeClr val="dk1"/>
              </a:buClr>
              <a:buSzPts val="1800"/>
            </a:pPr>
            <a:r>
              <a:rPr lang="en-US" sz="2800" b="1" dirty="0">
                <a:solidFill>
                  <a:schemeClr val="lt1"/>
                </a:solidFill>
                <a:latin typeface="Georgia"/>
                <a:ea typeface="Georgia"/>
                <a:cs typeface="Georgia"/>
                <a:sym typeface="Georgia"/>
              </a:rPr>
              <a:t>Employee Morale</a:t>
            </a:r>
            <a:r>
              <a:rPr lang="en-US" sz="2800" dirty="0">
                <a:solidFill>
                  <a:schemeClr val="lt1"/>
                </a:solidFill>
                <a:latin typeface="Georgia"/>
                <a:ea typeface="Georgia"/>
                <a:cs typeface="Georgia"/>
                <a:sym typeface="Georgia"/>
              </a:rPr>
              <a:t>: Brewery staff, from the brewers to the bottling team, are stressed and overworked. Overtime hours have increased by 30%, and a key brewer recently resigned, citing "unmanageable pressure.</a:t>
            </a:r>
          </a:p>
          <a:p>
            <a:pPr lvl="0">
              <a:buClr>
                <a:schemeClr val="dk1"/>
              </a:buClr>
              <a:buSzPts val="1800"/>
            </a:pPr>
            <a:endParaRPr lang="en-US" sz="2800" dirty="0">
              <a:solidFill>
                <a:schemeClr val="lt1"/>
              </a:solidFill>
              <a:latin typeface="Georgia"/>
              <a:ea typeface="Georgia"/>
              <a:cs typeface="Georgia"/>
              <a:sym typeface="Georgia"/>
            </a:endParaRPr>
          </a:p>
          <a:p>
            <a:pPr lvl="0">
              <a:buClr>
                <a:schemeClr val="dk1"/>
              </a:buClr>
              <a:buSzPts val="1800"/>
            </a:pPr>
            <a:r>
              <a:rPr lang="en-US" sz="2800" b="1" dirty="0">
                <a:solidFill>
                  <a:schemeClr val="lt1"/>
                </a:solidFill>
                <a:latin typeface="Georgia"/>
                <a:ea typeface="Georgia"/>
                <a:cs typeface="Georgia"/>
                <a:sym typeface="Georgia"/>
              </a:rPr>
              <a:t>Inefficient Processes</a:t>
            </a:r>
            <a:r>
              <a:rPr lang="en-US" sz="2800" dirty="0">
                <a:solidFill>
                  <a:schemeClr val="lt1"/>
                </a:solidFill>
                <a:latin typeface="Georgia"/>
                <a:ea typeface="Georgia"/>
                <a:cs typeface="Georgia"/>
                <a:sym typeface="Georgia"/>
              </a:rPr>
              <a:t>: Brewers track their recipes, ingredient inventory, and fermentation progress using a combination of handwritten notebooks and a shared, out-of-date spreadsheet. This leads to errors and time spent searching for information.</a:t>
            </a:r>
          </a:p>
          <a:p>
            <a:pPr lvl="0">
              <a:buClr>
                <a:schemeClr val="dk1"/>
              </a:buClr>
              <a:buSzPts val="1800"/>
            </a:pPr>
            <a:endParaRPr lang="en-US" sz="2800" dirty="0">
              <a:solidFill>
                <a:schemeClr val="lt1"/>
              </a:solidFill>
              <a:latin typeface="Georgia"/>
              <a:ea typeface="Georgia"/>
              <a:cs typeface="Georgia"/>
              <a:sym typeface="Georgia"/>
            </a:endParaRPr>
          </a:p>
          <a:p>
            <a:pPr lvl="0">
              <a:buClr>
                <a:schemeClr val="dk1"/>
              </a:buClr>
              <a:buSzPts val="1800"/>
            </a:pPr>
            <a:r>
              <a:rPr lang="en-US" sz="2800" b="1" dirty="0">
                <a:solidFill>
                  <a:schemeClr val="lt1"/>
                </a:solidFill>
                <a:latin typeface="Georgia"/>
                <a:ea typeface="Georgia"/>
                <a:cs typeface="Georgia"/>
                <a:sym typeface="Georgia"/>
              </a:rPr>
              <a:t>Inaccurate Forecasting</a:t>
            </a:r>
            <a:r>
              <a:rPr lang="en-US" sz="2800" dirty="0">
                <a:solidFill>
                  <a:schemeClr val="lt1"/>
                </a:solidFill>
                <a:latin typeface="Georgia"/>
                <a:ea typeface="Georgia"/>
                <a:cs typeface="Georgia"/>
                <a:sym typeface="Georgia"/>
              </a:rPr>
              <a:t>: The sales manager relies on intuition and informal conversations with restaurant owners to predict demand. There is no formal system to track weekly sales data from distributors, which results in inaccurate production planning and frequent inventory overstock or shortages.</a:t>
            </a:r>
          </a:p>
        </p:txBody>
      </p:sp>
      <p:sp>
        <p:nvSpPr>
          <p:cNvPr id="204" name="Google Shape;204;p3"/>
          <p:cNvSpPr txBox="1"/>
          <p:nvPr/>
        </p:nvSpPr>
        <p:spPr>
          <a:xfrm>
            <a:off x="8915400" y="2247900"/>
            <a:ext cx="8955741" cy="692437"/>
          </a:xfrm>
          <a:prstGeom prst="rect">
            <a:avLst/>
          </a:prstGeom>
          <a:noFill/>
          <a:ln>
            <a:noFill/>
          </a:ln>
        </p:spPr>
        <p:txBody>
          <a:bodyPr spcFirstLastPara="1" wrap="square" lIns="137125" tIns="68550" rIns="137125" bIns="68550" anchor="t" anchorCtr="0">
            <a:spAutoFit/>
          </a:bodyPr>
          <a:lstStyle/>
          <a:p>
            <a:pPr marL="0" marR="0" lvl="0" indent="0" algn="r" rtl="0">
              <a:spcBef>
                <a:spcPts val="0"/>
              </a:spcBef>
              <a:spcAft>
                <a:spcPts val="0"/>
              </a:spcAft>
              <a:buNone/>
            </a:pPr>
            <a:r>
              <a:rPr lang="en-US" sz="3600" b="1" dirty="0">
                <a:solidFill>
                  <a:schemeClr val="lt1"/>
                </a:solidFill>
                <a:latin typeface="Georgia"/>
                <a:ea typeface="Georgia"/>
                <a:cs typeface="Georgia"/>
                <a:sym typeface="Georgia"/>
              </a:rPr>
              <a:t>Challenges Encountered</a:t>
            </a:r>
            <a:endParaRPr sz="2700" dirty="0">
              <a:solidFill>
                <a:schemeClr val="dk1"/>
              </a:solidFill>
              <a:latin typeface="Georgia"/>
              <a:ea typeface="Georgia"/>
              <a:cs typeface="Georgia"/>
              <a:sym typeface="Georgia"/>
            </a:endParaRPr>
          </a:p>
        </p:txBody>
      </p:sp>
      <p:grpSp>
        <p:nvGrpSpPr>
          <p:cNvPr id="205" name="Google Shape;205;p3"/>
          <p:cNvGrpSpPr/>
          <p:nvPr/>
        </p:nvGrpSpPr>
        <p:grpSpPr>
          <a:xfrm flipH="1">
            <a:off x="10516054" y="705690"/>
            <a:ext cx="7810046" cy="1124786"/>
            <a:chOff x="10744200" y="907230"/>
            <a:chExt cx="7810046" cy="1124786"/>
          </a:xfrm>
        </p:grpSpPr>
        <p:sp>
          <p:nvSpPr>
            <p:cNvPr id="206" name="Google Shape;206;p3"/>
            <p:cNvSpPr/>
            <p:nvPr/>
          </p:nvSpPr>
          <p:spPr>
            <a:xfrm>
              <a:off x="10744200" y="907230"/>
              <a:ext cx="6996398" cy="1094033"/>
            </a:xfrm>
            <a:custGeom>
              <a:avLst/>
              <a:gdLst/>
              <a:ahLst/>
              <a:cxnLst/>
              <a:rect l="l" t="t" r="r" b="b"/>
              <a:pathLst>
                <a:path w="9328531" h="1905381" extrusionOk="0">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7" name="Google Shape;207;p3"/>
            <p:cNvSpPr/>
            <p:nvPr/>
          </p:nvSpPr>
          <p:spPr>
            <a:xfrm>
              <a:off x="17512656"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8" name="Google Shape;208;p3"/>
            <p:cNvSpPr/>
            <p:nvPr/>
          </p:nvSpPr>
          <p:spPr>
            <a:xfrm>
              <a:off x="17945313"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grpSp>
      <p:sp>
        <p:nvSpPr>
          <p:cNvPr id="209" name="Google Shape;209;p3"/>
          <p:cNvSpPr txBox="1"/>
          <p:nvPr/>
        </p:nvSpPr>
        <p:spPr>
          <a:xfrm>
            <a:off x="11565909" y="1010667"/>
            <a:ext cx="6375082" cy="551433"/>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3600" b="1">
                <a:solidFill>
                  <a:srgbClr val="FFFFFF"/>
                </a:solidFill>
                <a:latin typeface="Georgia"/>
                <a:ea typeface="Georgia"/>
                <a:cs typeface="Georgia"/>
                <a:sym typeface="Georgia"/>
              </a:rPr>
              <a:t>Case Study Overview</a:t>
            </a:r>
            <a:endParaRPr/>
          </a:p>
        </p:txBody>
      </p:sp>
      <p:sp>
        <p:nvSpPr>
          <p:cNvPr id="210" name="Google Shape;210;p3"/>
          <p:cNvSpPr txBox="1"/>
          <p:nvPr/>
        </p:nvSpPr>
        <p:spPr>
          <a:xfrm>
            <a:off x="647700" y="3742059"/>
            <a:ext cx="5638800"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00"/>
              </a:buClr>
              <a:buSzPts val="3600"/>
              <a:buFont typeface="Georgia"/>
              <a:buNone/>
            </a:pPr>
            <a:r>
              <a:rPr lang="en-US" sz="3600" b="1">
                <a:solidFill>
                  <a:srgbClr val="FFFF00"/>
                </a:solidFill>
                <a:latin typeface="Georgia"/>
                <a:ea typeface="Georgia"/>
                <a:cs typeface="Georgia"/>
                <a:sym typeface="Georgia"/>
              </a:rPr>
              <a:t>PNG ILLUSTRATION OF THE BUSINESS CHALLENGE</a:t>
            </a:r>
            <a:endParaRPr sz="5400" b="1">
              <a:solidFill>
                <a:srgbClr val="FFFF00"/>
              </a:solidFill>
              <a:latin typeface="Georgia"/>
              <a:ea typeface="Georgia"/>
              <a:cs typeface="Georgia"/>
              <a:sym typeface="Georgia"/>
            </a:endParaRPr>
          </a:p>
        </p:txBody>
      </p:sp>
      <p:pic>
        <p:nvPicPr>
          <p:cNvPr id="3" name="Picture 2">
            <a:extLst>
              <a:ext uri="{FF2B5EF4-FFF2-40B4-BE49-F238E27FC236}">
                <a16:creationId xmlns="" xmlns:a16="http://schemas.microsoft.com/office/drawing/2014/main" id="{7A19508B-7E05-44FE-B73B-EFA5D40C1FE8}"/>
              </a:ext>
            </a:extLst>
          </p:cNvPr>
          <p:cNvPicPr>
            <a:picLocks noChangeAspect="1"/>
          </p:cNvPicPr>
          <p:nvPr/>
        </p:nvPicPr>
        <p:blipFill>
          <a:blip r:embed="rId4">
            <a:extLst>
              <a:ext uri="{837473B0-CC2E-450A-ABE3-18F120FF3D39}">
                <a1611:picAttrSrcUrl xmlns="" xmlns:a1611="http://schemas.microsoft.com/office/drawing/2016/11/main" r:id="rId5"/>
              </a:ext>
            </a:extLst>
          </a:blip>
          <a:stretch>
            <a:fillRect/>
          </a:stretch>
        </p:blipFill>
        <p:spPr>
          <a:xfrm>
            <a:off x="-24887" y="0"/>
            <a:ext cx="6983186" cy="10303329"/>
          </a:xfrm>
          <a:prstGeom prst="rect">
            <a:avLst/>
          </a:prstGeom>
        </p:spPr>
      </p:pic>
    </p:spTree>
    <p:extLst>
      <p:ext uri="{BB962C8B-B14F-4D97-AF65-F5344CB8AC3E}">
        <p14:creationId xmlns:p14="http://schemas.microsoft.com/office/powerpoint/2010/main" val="26471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
          <p:cNvSpPr/>
          <p:nvPr/>
        </p:nvSpPr>
        <p:spPr>
          <a:xfrm>
            <a:off x="6934200" y="0"/>
            <a:ext cx="11391900" cy="10286999"/>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Arial"/>
              <a:ea typeface="Arial"/>
              <a:cs typeface="Arial"/>
              <a:sym typeface="Arial"/>
            </a:endParaRPr>
          </a:p>
        </p:txBody>
      </p:sp>
      <p:pic>
        <p:nvPicPr>
          <p:cNvPr id="201" name="Google Shape;201;p3"/>
          <p:cNvPicPr preferRelativeResize="0"/>
          <p:nvPr/>
        </p:nvPicPr>
        <p:blipFill rotWithShape="1">
          <a:blip r:embed="rId3">
            <a:alphaModFix/>
          </a:blip>
          <a:srcRect/>
          <a:stretch/>
        </p:blipFill>
        <p:spPr>
          <a:xfrm>
            <a:off x="15673389" y="49302"/>
            <a:ext cx="1761996" cy="457325"/>
          </a:xfrm>
          <a:prstGeom prst="rect">
            <a:avLst/>
          </a:prstGeom>
          <a:noFill/>
          <a:ln>
            <a:noFill/>
          </a:ln>
        </p:spPr>
      </p:pic>
      <p:sp>
        <p:nvSpPr>
          <p:cNvPr id="202" name="Google Shape;202;p3"/>
          <p:cNvSpPr/>
          <p:nvPr/>
        </p:nvSpPr>
        <p:spPr>
          <a:xfrm>
            <a:off x="7239000" y="2095501"/>
            <a:ext cx="10888312" cy="8000981"/>
          </a:xfrm>
          <a:custGeom>
            <a:avLst/>
            <a:gdLst/>
            <a:ahLst/>
            <a:cxnLst/>
            <a:rect l="l" t="t" r="r" b="b"/>
            <a:pathLst>
              <a:path w="16399511" h="7466330" extrusionOk="0">
                <a:moveTo>
                  <a:pt x="0" y="0"/>
                </a:moveTo>
                <a:lnTo>
                  <a:pt x="16399511" y="0"/>
                </a:lnTo>
                <a:lnTo>
                  <a:pt x="16399511" y="7466330"/>
                </a:lnTo>
                <a:lnTo>
                  <a:pt x="0" y="746633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3"/>
          <p:cNvSpPr/>
          <p:nvPr/>
        </p:nvSpPr>
        <p:spPr>
          <a:xfrm>
            <a:off x="7315818" y="3205362"/>
            <a:ext cx="10891838" cy="6775164"/>
          </a:xfrm>
          <a:prstGeom prst="rect">
            <a:avLst/>
          </a:prstGeom>
          <a:solidFill>
            <a:srgbClr val="0C0C0C">
              <a:alpha val="60000"/>
            </a:srgbClr>
          </a:solidFill>
          <a:ln>
            <a:noFill/>
          </a:ln>
        </p:spPr>
        <p:txBody>
          <a:bodyPr spcFirstLastPara="1" wrap="square" lIns="91425" tIns="45700" rIns="91425" bIns="45700" anchor="ctr" anchorCtr="0">
            <a:noAutofit/>
          </a:bodyPr>
          <a:lstStyle/>
          <a:p>
            <a:pPr lvl="0">
              <a:buClr>
                <a:schemeClr val="dk1"/>
              </a:buClr>
              <a:buSzPts val="1800"/>
            </a:pPr>
            <a:r>
              <a:rPr lang="en-US" sz="2800" b="1" dirty="0">
                <a:solidFill>
                  <a:schemeClr val="lt1"/>
                </a:solidFill>
                <a:latin typeface="Georgia"/>
                <a:ea typeface="Georgia"/>
                <a:cs typeface="Georgia"/>
                <a:sym typeface="Georgia"/>
              </a:rPr>
              <a:t>Outdated Equipment: The main bottling line frequently jams, requiring manual intervention that can halt production for an hour or more. The brewing tanks are nearing the end of their lifespan and require constant small repairs. </a:t>
            </a:r>
          </a:p>
          <a:p>
            <a:pPr lvl="0">
              <a:buClr>
                <a:schemeClr val="dk1"/>
              </a:buClr>
              <a:buSzPts val="1800"/>
            </a:pPr>
            <a:endParaRPr lang="en-US" sz="2800" b="1" dirty="0">
              <a:solidFill>
                <a:schemeClr val="lt1"/>
              </a:solidFill>
              <a:latin typeface="Georgia"/>
              <a:ea typeface="Georgia"/>
              <a:cs typeface="Georgia"/>
              <a:sym typeface="Georgia"/>
            </a:endParaRPr>
          </a:p>
          <a:p>
            <a:pPr lvl="0">
              <a:buClr>
                <a:schemeClr val="dk1"/>
              </a:buClr>
              <a:buSzPts val="1800"/>
            </a:pPr>
            <a:r>
              <a:rPr lang="en-US" sz="2800" b="1" dirty="0">
                <a:solidFill>
                  <a:schemeClr val="lt1"/>
                </a:solidFill>
                <a:latin typeface="Georgia"/>
                <a:ea typeface="Georgia"/>
                <a:cs typeface="Georgia"/>
                <a:sym typeface="Georgia"/>
              </a:rPr>
              <a:t>Communication Gaps: The sales team often promises a new batch of beer to a customer without consulting the production team to confirm its availability, creating conflict and disappointed customers.</a:t>
            </a:r>
            <a:endParaRPr lang="en-US" sz="2800" dirty="0">
              <a:solidFill>
                <a:schemeClr val="lt1"/>
              </a:solidFill>
              <a:latin typeface="Georgia"/>
              <a:ea typeface="Georgia"/>
              <a:cs typeface="Georgia"/>
              <a:sym typeface="Georgia"/>
            </a:endParaRPr>
          </a:p>
        </p:txBody>
      </p:sp>
      <p:sp>
        <p:nvSpPr>
          <p:cNvPr id="204" name="Google Shape;204;p3"/>
          <p:cNvSpPr txBox="1"/>
          <p:nvPr/>
        </p:nvSpPr>
        <p:spPr>
          <a:xfrm>
            <a:off x="8915400" y="2247900"/>
            <a:ext cx="8955741" cy="692437"/>
          </a:xfrm>
          <a:prstGeom prst="rect">
            <a:avLst/>
          </a:prstGeom>
          <a:noFill/>
          <a:ln>
            <a:noFill/>
          </a:ln>
        </p:spPr>
        <p:txBody>
          <a:bodyPr spcFirstLastPara="1" wrap="square" lIns="137125" tIns="68550" rIns="137125" bIns="68550" anchor="t" anchorCtr="0">
            <a:spAutoFit/>
          </a:bodyPr>
          <a:lstStyle/>
          <a:p>
            <a:pPr marL="0" marR="0" lvl="0" indent="0" algn="r" rtl="0">
              <a:spcBef>
                <a:spcPts val="0"/>
              </a:spcBef>
              <a:spcAft>
                <a:spcPts val="0"/>
              </a:spcAft>
              <a:buNone/>
            </a:pPr>
            <a:r>
              <a:rPr lang="en-US" sz="3600" b="1" dirty="0">
                <a:solidFill>
                  <a:schemeClr val="lt1"/>
                </a:solidFill>
                <a:latin typeface="Georgia"/>
                <a:ea typeface="Georgia"/>
                <a:cs typeface="Georgia"/>
                <a:sym typeface="Georgia"/>
              </a:rPr>
              <a:t>Challenges Encountered</a:t>
            </a:r>
            <a:endParaRPr sz="2700" dirty="0">
              <a:solidFill>
                <a:schemeClr val="dk1"/>
              </a:solidFill>
              <a:latin typeface="Georgia"/>
              <a:ea typeface="Georgia"/>
              <a:cs typeface="Georgia"/>
              <a:sym typeface="Georgia"/>
            </a:endParaRPr>
          </a:p>
        </p:txBody>
      </p:sp>
      <p:grpSp>
        <p:nvGrpSpPr>
          <p:cNvPr id="205" name="Google Shape;205;p3"/>
          <p:cNvGrpSpPr/>
          <p:nvPr/>
        </p:nvGrpSpPr>
        <p:grpSpPr>
          <a:xfrm flipH="1">
            <a:off x="10516054" y="705690"/>
            <a:ext cx="7810046" cy="1124786"/>
            <a:chOff x="10744200" y="907230"/>
            <a:chExt cx="7810046" cy="1124786"/>
          </a:xfrm>
        </p:grpSpPr>
        <p:sp>
          <p:nvSpPr>
            <p:cNvPr id="206" name="Google Shape;206;p3"/>
            <p:cNvSpPr/>
            <p:nvPr/>
          </p:nvSpPr>
          <p:spPr>
            <a:xfrm>
              <a:off x="10744200" y="907230"/>
              <a:ext cx="6996398" cy="1094033"/>
            </a:xfrm>
            <a:custGeom>
              <a:avLst/>
              <a:gdLst/>
              <a:ahLst/>
              <a:cxnLst/>
              <a:rect l="l" t="t" r="r" b="b"/>
              <a:pathLst>
                <a:path w="9328531" h="1905381" extrusionOk="0">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7" name="Google Shape;207;p3"/>
            <p:cNvSpPr/>
            <p:nvPr/>
          </p:nvSpPr>
          <p:spPr>
            <a:xfrm>
              <a:off x="17512656"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8" name="Google Shape;208;p3"/>
            <p:cNvSpPr/>
            <p:nvPr/>
          </p:nvSpPr>
          <p:spPr>
            <a:xfrm>
              <a:off x="17945313"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grpSp>
      <p:sp>
        <p:nvSpPr>
          <p:cNvPr id="209" name="Google Shape;209;p3"/>
          <p:cNvSpPr txBox="1"/>
          <p:nvPr/>
        </p:nvSpPr>
        <p:spPr>
          <a:xfrm>
            <a:off x="11565909" y="1010667"/>
            <a:ext cx="6375082" cy="551433"/>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3600" b="1">
                <a:solidFill>
                  <a:srgbClr val="FFFFFF"/>
                </a:solidFill>
                <a:latin typeface="Georgia"/>
                <a:ea typeface="Georgia"/>
                <a:cs typeface="Georgia"/>
                <a:sym typeface="Georgia"/>
              </a:rPr>
              <a:t>Case Study Overview</a:t>
            </a:r>
            <a:endParaRPr/>
          </a:p>
        </p:txBody>
      </p:sp>
      <p:sp>
        <p:nvSpPr>
          <p:cNvPr id="210" name="Google Shape;210;p3"/>
          <p:cNvSpPr txBox="1"/>
          <p:nvPr/>
        </p:nvSpPr>
        <p:spPr>
          <a:xfrm>
            <a:off x="647700" y="3742059"/>
            <a:ext cx="5638800"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00"/>
              </a:buClr>
              <a:buSzPts val="3600"/>
              <a:buFont typeface="Georgia"/>
              <a:buNone/>
            </a:pPr>
            <a:r>
              <a:rPr lang="en-US" sz="3600" b="1">
                <a:solidFill>
                  <a:srgbClr val="FFFF00"/>
                </a:solidFill>
                <a:latin typeface="Georgia"/>
                <a:ea typeface="Georgia"/>
                <a:cs typeface="Georgia"/>
                <a:sym typeface="Georgia"/>
              </a:rPr>
              <a:t>PNG ILLUSTRATION OF THE BUSINESS CHALLENGE</a:t>
            </a:r>
            <a:endParaRPr sz="5400" b="1">
              <a:solidFill>
                <a:srgbClr val="FFFF00"/>
              </a:solidFill>
              <a:latin typeface="Georgia"/>
              <a:ea typeface="Georgia"/>
              <a:cs typeface="Georgia"/>
              <a:sym typeface="Georgia"/>
            </a:endParaRPr>
          </a:p>
        </p:txBody>
      </p:sp>
      <p:pic>
        <p:nvPicPr>
          <p:cNvPr id="3" name="Picture 2">
            <a:extLst>
              <a:ext uri="{FF2B5EF4-FFF2-40B4-BE49-F238E27FC236}">
                <a16:creationId xmlns="" xmlns:a16="http://schemas.microsoft.com/office/drawing/2014/main" id="{7A19508B-7E05-44FE-B73B-EFA5D40C1FE8}"/>
              </a:ext>
            </a:extLst>
          </p:cNvPr>
          <p:cNvPicPr>
            <a:picLocks noChangeAspect="1"/>
          </p:cNvPicPr>
          <p:nvPr/>
        </p:nvPicPr>
        <p:blipFill>
          <a:blip r:embed="rId4">
            <a:extLst>
              <a:ext uri="{837473B0-CC2E-450A-ABE3-18F120FF3D39}">
                <a1611:picAttrSrcUrl xmlns="" xmlns:a1611="http://schemas.microsoft.com/office/drawing/2016/11/main" r:id="rId5"/>
              </a:ext>
            </a:extLst>
          </a:blip>
          <a:stretch>
            <a:fillRect/>
          </a:stretch>
        </p:blipFill>
        <p:spPr>
          <a:xfrm>
            <a:off x="-24887" y="0"/>
            <a:ext cx="6983186" cy="10303329"/>
          </a:xfrm>
          <a:prstGeom prst="rect">
            <a:avLst/>
          </a:prstGeom>
        </p:spPr>
      </p:pic>
    </p:spTree>
    <p:extLst>
      <p:ext uri="{BB962C8B-B14F-4D97-AF65-F5344CB8AC3E}">
        <p14:creationId xmlns:p14="http://schemas.microsoft.com/office/powerpoint/2010/main" val="654436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
          <p:cNvSpPr/>
          <p:nvPr/>
        </p:nvSpPr>
        <p:spPr>
          <a:xfrm>
            <a:off x="6934200" y="0"/>
            <a:ext cx="11391900" cy="10286999"/>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Arial"/>
              <a:ea typeface="Arial"/>
              <a:cs typeface="Arial"/>
              <a:sym typeface="Arial"/>
            </a:endParaRPr>
          </a:p>
        </p:txBody>
      </p:sp>
      <p:pic>
        <p:nvPicPr>
          <p:cNvPr id="201" name="Google Shape;201;p3"/>
          <p:cNvPicPr preferRelativeResize="0"/>
          <p:nvPr/>
        </p:nvPicPr>
        <p:blipFill rotWithShape="1">
          <a:blip r:embed="rId3">
            <a:alphaModFix/>
          </a:blip>
          <a:srcRect/>
          <a:stretch/>
        </p:blipFill>
        <p:spPr>
          <a:xfrm>
            <a:off x="15673389" y="49302"/>
            <a:ext cx="1761996" cy="457325"/>
          </a:xfrm>
          <a:prstGeom prst="rect">
            <a:avLst/>
          </a:prstGeom>
          <a:noFill/>
          <a:ln>
            <a:noFill/>
          </a:ln>
        </p:spPr>
      </p:pic>
      <p:sp>
        <p:nvSpPr>
          <p:cNvPr id="202" name="Google Shape;202;p3"/>
          <p:cNvSpPr/>
          <p:nvPr/>
        </p:nvSpPr>
        <p:spPr>
          <a:xfrm>
            <a:off x="7239000" y="2095501"/>
            <a:ext cx="10888312" cy="8000981"/>
          </a:xfrm>
          <a:custGeom>
            <a:avLst/>
            <a:gdLst/>
            <a:ahLst/>
            <a:cxnLst/>
            <a:rect l="l" t="t" r="r" b="b"/>
            <a:pathLst>
              <a:path w="16399511" h="7466330" extrusionOk="0">
                <a:moveTo>
                  <a:pt x="0" y="0"/>
                </a:moveTo>
                <a:lnTo>
                  <a:pt x="16399511" y="0"/>
                </a:lnTo>
                <a:lnTo>
                  <a:pt x="16399511" y="7466330"/>
                </a:lnTo>
                <a:lnTo>
                  <a:pt x="0" y="746633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3"/>
          <p:cNvSpPr/>
          <p:nvPr/>
        </p:nvSpPr>
        <p:spPr>
          <a:xfrm>
            <a:off x="7315818" y="3205362"/>
            <a:ext cx="10891838" cy="6775164"/>
          </a:xfrm>
          <a:prstGeom prst="rect">
            <a:avLst/>
          </a:prstGeom>
          <a:solidFill>
            <a:srgbClr val="0C0C0C">
              <a:alpha val="60000"/>
            </a:srgbClr>
          </a:solidFill>
          <a:ln>
            <a:noFill/>
          </a:ln>
        </p:spPr>
        <p:txBody>
          <a:bodyPr spcFirstLastPara="1" wrap="square" lIns="91425" tIns="45700" rIns="91425" bIns="45700" anchor="ctr" anchorCtr="0">
            <a:noAutofit/>
          </a:bodyPr>
          <a:lstStyle/>
          <a:p>
            <a:pPr lvl="0">
              <a:buClr>
                <a:schemeClr val="dk1"/>
              </a:buClr>
              <a:buSzPts val="1800"/>
            </a:pPr>
            <a:r>
              <a:rPr lang="en-US" sz="2800" b="1" dirty="0">
                <a:solidFill>
                  <a:schemeClr val="lt1"/>
                </a:solidFill>
                <a:latin typeface="Georgia"/>
                <a:ea typeface="Georgia"/>
                <a:cs typeface="Georgia"/>
                <a:sym typeface="Georgia"/>
              </a:rPr>
              <a:t>The leadership team at Barrel &amp; Brew has a clear vision for the future, which they believe will allow them to scale their business sustainably. Some of the keys parameters include; </a:t>
            </a:r>
          </a:p>
          <a:p>
            <a:pPr lvl="0">
              <a:buClr>
                <a:schemeClr val="dk1"/>
              </a:buClr>
              <a:buSzPts val="1800"/>
            </a:pPr>
            <a:endParaRPr lang="en-US" sz="2800" b="1" dirty="0">
              <a:solidFill>
                <a:schemeClr val="lt1"/>
              </a:solidFill>
              <a:latin typeface="Georgia"/>
              <a:ea typeface="Georgia"/>
              <a:cs typeface="Georgia"/>
              <a:sym typeface="Georgia"/>
            </a:endParaRPr>
          </a:p>
          <a:p>
            <a:pPr marL="457200" lvl="0" indent="-457200">
              <a:buClr>
                <a:schemeClr val="bg1"/>
              </a:buClr>
              <a:buSzPts val="1800"/>
              <a:buFont typeface="Wingdings" panose="05000000000000000000" pitchFamily="2" charset="2"/>
              <a:buChar char="q"/>
            </a:pPr>
            <a:r>
              <a:rPr lang="en-US" sz="2800" b="1" dirty="0">
                <a:solidFill>
                  <a:schemeClr val="lt1"/>
                </a:solidFill>
                <a:latin typeface="Georgia"/>
                <a:ea typeface="Georgia"/>
                <a:cs typeface="Georgia"/>
                <a:sym typeface="Georgia"/>
              </a:rPr>
              <a:t>Reliable Production </a:t>
            </a:r>
          </a:p>
          <a:p>
            <a:pPr marL="457200" lvl="0" indent="-457200">
              <a:buClr>
                <a:schemeClr val="bg1"/>
              </a:buClr>
              <a:buSzPts val="1800"/>
              <a:buFont typeface="Wingdings" panose="05000000000000000000" pitchFamily="2" charset="2"/>
              <a:buChar char="q"/>
            </a:pPr>
            <a:r>
              <a:rPr lang="en-US" sz="2800" b="1" dirty="0">
                <a:solidFill>
                  <a:schemeClr val="lt1"/>
                </a:solidFill>
                <a:latin typeface="Georgia"/>
                <a:ea typeface="Georgia"/>
                <a:cs typeface="Georgia"/>
                <a:sym typeface="Georgia"/>
              </a:rPr>
              <a:t>High Quality </a:t>
            </a:r>
          </a:p>
          <a:p>
            <a:pPr marL="457200" lvl="0" indent="-457200">
              <a:buClr>
                <a:schemeClr val="bg1"/>
              </a:buClr>
              <a:buSzPts val="1800"/>
              <a:buFont typeface="Wingdings" panose="05000000000000000000" pitchFamily="2" charset="2"/>
              <a:buChar char="q"/>
            </a:pPr>
            <a:r>
              <a:rPr lang="en-US" sz="2800" b="1" dirty="0">
                <a:solidFill>
                  <a:schemeClr val="lt1"/>
                </a:solidFill>
                <a:latin typeface="Georgia"/>
                <a:ea typeface="Georgia"/>
                <a:cs typeface="Georgia"/>
                <a:sym typeface="Georgia"/>
              </a:rPr>
              <a:t>Empowered Staff </a:t>
            </a:r>
          </a:p>
          <a:p>
            <a:pPr marL="457200" lvl="0" indent="-457200">
              <a:buClr>
                <a:schemeClr val="bg1"/>
              </a:buClr>
              <a:buSzPts val="1800"/>
              <a:buFont typeface="Wingdings" panose="05000000000000000000" pitchFamily="2" charset="2"/>
              <a:buChar char="q"/>
            </a:pPr>
            <a:r>
              <a:rPr lang="en-US" sz="2800" b="1" dirty="0">
                <a:solidFill>
                  <a:schemeClr val="lt1"/>
                </a:solidFill>
                <a:latin typeface="Georgia"/>
                <a:ea typeface="Georgia"/>
                <a:cs typeface="Georgia"/>
                <a:sym typeface="Georgia"/>
              </a:rPr>
              <a:t>Streamlined Operations </a:t>
            </a:r>
          </a:p>
          <a:p>
            <a:pPr marL="457200" lvl="0" indent="-457200">
              <a:buClr>
                <a:schemeClr val="bg1"/>
              </a:buClr>
              <a:buSzPts val="1800"/>
              <a:buFont typeface="Wingdings" panose="05000000000000000000" pitchFamily="2" charset="2"/>
              <a:buChar char="q"/>
            </a:pPr>
            <a:r>
              <a:rPr lang="en-US" sz="2800" b="1" dirty="0">
                <a:solidFill>
                  <a:schemeClr val="lt1"/>
                </a:solidFill>
                <a:latin typeface="Georgia"/>
                <a:ea typeface="Georgia"/>
                <a:cs typeface="Georgia"/>
                <a:sym typeface="Georgia"/>
              </a:rPr>
              <a:t>Data-Driven Decisions </a:t>
            </a:r>
          </a:p>
          <a:p>
            <a:pPr marL="457200" lvl="0" indent="-457200">
              <a:buClr>
                <a:schemeClr val="bg1"/>
              </a:buClr>
              <a:buSzPts val="1800"/>
              <a:buFont typeface="Wingdings" panose="05000000000000000000" pitchFamily="2" charset="2"/>
              <a:buChar char="q"/>
            </a:pPr>
            <a:r>
              <a:rPr lang="en-US" sz="2800" b="1" dirty="0">
                <a:solidFill>
                  <a:schemeClr val="lt1"/>
                </a:solidFill>
                <a:latin typeface="Georgia"/>
                <a:ea typeface="Georgia"/>
                <a:cs typeface="Georgia"/>
                <a:sym typeface="Georgia"/>
              </a:rPr>
              <a:t>Modern Infrastructure</a:t>
            </a:r>
            <a:endParaRPr lang="en-US" sz="2800" dirty="0">
              <a:solidFill>
                <a:schemeClr val="lt1"/>
              </a:solidFill>
              <a:latin typeface="Georgia"/>
              <a:ea typeface="Georgia"/>
              <a:cs typeface="Georgia"/>
              <a:sym typeface="Georgia"/>
            </a:endParaRPr>
          </a:p>
        </p:txBody>
      </p:sp>
      <p:sp>
        <p:nvSpPr>
          <p:cNvPr id="204" name="Google Shape;204;p3"/>
          <p:cNvSpPr txBox="1"/>
          <p:nvPr/>
        </p:nvSpPr>
        <p:spPr>
          <a:xfrm>
            <a:off x="8915400" y="2247900"/>
            <a:ext cx="8955741" cy="692437"/>
          </a:xfrm>
          <a:prstGeom prst="rect">
            <a:avLst/>
          </a:prstGeom>
          <a:noFill/>
          <a:ln>
            <a:noFill/>
          </a:ln>
        </p:spPr>
        <p:txBody>
          <a:bodyPr spcFirstLastPara="1" wrap="square" lIns="137125" tIns="68550" rIns="137125" bIns="68550" anchor="t" anchorCtr="0">
            <a:spAutoFit/>
          </a:bodyPr>
          <a:lstStyle/>
          <a:p>
            <a:pPr marL="0" marR="0" lvl="0" indent="0" algn="r" rtl="0">
              <a:spcBef>
                <a:spcPts val="0"/>
              </a:spcBef>
              <a:spcAft>
                <a:spcPts val="0"/>
              </a:spcAft>
              <a:buNone/>
            </a:pPr>
            <a:r>
              <a:rPr lang="en-US" sz="3600" b="1" dirty="0">
                <a:solidFill>
                  <a:schemeClr val="lt1"/>
                </a:solidFill>
                <a:latin typeface="Georgia"/>
                <a:ea typeface="Georgia"/>
                <a:cs typeface="Georgia"/>
                <a:sym typeface="Georgia"/>
              </a:rPr>
              <a:t>Proposed Solution</a:t>
            </a:r>
            <a:endParaRPr sz="2700" dirty="0">
              <a:solidFill>
                <a:schemeClr val="dk1"/>
              </a:solidFill>
              <a:latin typeface="Georgia"/>
              <a:ea typeface="Georgia"/>
              <a:cs typeface="Georgia"/>
              <a:sym typeface="Georgia"/>
            </a:endParaRPr>
          </a:p>
        </p:txBody>
      </p:sp>
      <p:grpSp>
        <p:nvGrpSpPr>
          <p:cNvPr id="205" name="Google Shape;205;p3"/>
          <p:cNvGrpSpPr/>
          <p:nvPr/>
        </p:nvGrpSpPr>
        <p:grpSpPr>
          <a:xfrm flipH="1">
            <a:off x="10516054" y="705690"/>
            <a:ext cx="7810046" cy="1124786"/>
            <a:chOff x="10744200" y="907230"/>
            <a:chExt cx="7810046" cy="1124786"/>
          </a:xfrm>
        </p:grpSpPr>
        <p:sp>
          <p:nvSpPr>
            <p:cNvPr id="206" name="Google Shape;206;p3"/>
            <p:cNvSpPr/>
            <p:nvPr/>
          </p:nvSpPr>
          <p:spPr>
            <a:xfrm>
              <a:off x="10744200" y="907230"/>
              <a:ext cx="6996398" cy="1094033"/>
            </a:xfrm>
            <a:custGeom>
              <a:avLst/>
              <a:gdLst/>
              <a:ahLst/>
              <a:cxnLst/>
              <a:rect l="l" t="t" r="r" b="b"/>
              <a:pathLst>
                <a:path w="9328531" h="1905381" extrusionOk="0">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7" name="Google Shape;207;p3"/>
            <p:cNvSpPr/>
            <p:nvPr/>
          </p:nvSpPr>
          <p:spPr>
            <a:xfrm>
              <a:off x="17512656"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8" name="Google Shape;208;p3"/>
            <p:cNvSpPr/>
            <p:nvPr/>
          </p:nvSpPr>
          <p:spPr>
            <a:xfrm>
              <a:off x="17945313"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grpSp>
      <p:sp>
        <p:nvSpPr>
          <p:cNvPr id="209" name="Google Shape;209;p3"/>
          <p:cNvSpPr txBox="1"/>
          <p:nvPr/>
        </p:nvSpPr>
        <p:spPr>
          <a:xfrm>
            <a:off x="11565909" y="1010667"/>
            <a:ext cx="6375082" cy="551433"/>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3600" b="1">
                <a:solidFill>
                  <a:srgbClr val="FFFFFF"/>
                </a:solidFill>
                <a:latin typeface="Georgia"/>
                <a:ea typeface="Georgia"/>
                <a:cs typeface="Georgia"/>
                <a:sym typeface="Georgia"/>
              </a:rPr>
              <a:t>Case Study Overview</a:t>
            </a:r>
            <a:endParaRPr/>
          </a:p>
        </p:txBody>
      </p:sp>
      <p:sp>
        <p:nvSpPr>
          <p:cNvPr id="210" name="Google Shape;210;p3"/>
          <p:cNvSpPr txBox="1"/>
          <p:nvPr/>
        </p:nvSpPr>
        <p:spPr>
          <a:xfrm>
            <a:off x="647700" y="3742059"/>
            <a:ext cx="5638800"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00"/>
              </a:buClr>
              <a:buSzPts val="3600"/>
              <a:buFont typeface="Georgia"/>
              <a:buNone/>
            </a:pPr>
            <a:r>
              <a:rPr lang="en-US" sz="3600" b="1">
                <a:solidFill>
                  <a:srgbClr val="FFFF00"/>
                </a:solidFill>
                <a:latin typeface="Georgia"/>
                <a:ea typeface="Georgia"/>
                <a:cs typeface="Georgia"/>
                <a:sym typeface="Georgia"/>
              </a:rPr>
              <a:t>PNG ILLUSTRATION OF THE BUSINESS CHALLENGE</a:t>
            </a:r>
            <a:endParaRPr sz="5400" b="1">
              <a:solidFill>
                <a:srgbClr val="FFFF00"/>
              </a:solidFill>
              <a:latin typeface="Georgia"/>
              <a:ea typeface="Georgia"/>
              <a:cs typeface="Georgia"/>
              <a:sym typeface="Georgia"/>
            </a:endParaRPr>
          </a:p>
        </p:txBody>
      </p:sp>
      <p:pic>
        <p:nvPicPr>
          <p:cNvPr id="3" name="Picture 2">
            <a:extLst>
              <a:ext uri="{FF2B5EF4-FFF2-40B4-BE49-F238E27FC236}">
                <a16:creationId xmlns="" xmlns:a16="http://schemas.microsoft.com/office/drawing/2014/main" id="{7A19508B-7E05-44FE-B73B-EFA5D40C1FE8}"/>
              </a:ext>
            </a:extLst>
          </p:cNvPr>
          <p:cNvPicPr>
            <a:picLocks noChangeAspect="1"/>
          </p:cNvPicPr>
          <p:nvPr/>
        </p:nvPicPr>
        <p:blipFill>
          <a:blip r:embed="rId4">
            <a:extLst>
              <a:ext uri="{837473B0-CC2E-450A-ABE3-18F120FF3D39}">
                <a1611:picAttrSrcUrl xmlns="" xmlns:a1611="http://schemas.microsoft.com/office/drawing/2016/11/main" r:id="rId5"/>
              </a:ext>
            </a:extLst>
          </a:blip>
          <a:stretch>
            <a:fillRect/>
          </a:stretch>
        </p:blipFill>
        <p:spPr>
          <a:xfrm>
            <a:off x="-24887" y="0"/>
            <a:ext cx="6983186" cy="10303329"/>
          </a:xfrm>
          <a:prstGeom prst="rect">
            <a:avLst/>
          </a:prstGeom>
        </p:spPr>
      </p:pic>
    </p:spTree>
    <p:extLst>
      <p:ext uri="{BB962C8B-B14F-4D97-AF65-F5344CB8AC3E}">
        <p14:creationId xmlns:p14="http://schemas.microsoft.com/office/powerpoint/2010/main" val="4046418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200" name="Google Shape;200;p3"/>
          <p:cNvSpPr/>
          <p:nvPr/>
        </p:nvSpPr>
        <p:spPr>
          <a:xfrm>
            <a:off x="6934200" y="0"/>
            <a:ext cx="11391900" cy="10286999"/>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Arial"/>
              <a:ea typeface="Arial"/>
              <a:cs typeface="Arial"/>
              <a:sym typeface="Arial"/>
            </a:endParaRPr>
          </a:p>
        </p:txBody>
      </p:sp>
      <p:pic>
        <p:nvPicPr>
          <p:cNvPr id="201" name="Google Shape;201;p3"/>
          <p:cNvPicPr preferRelativeResize="0"/>
          <p:nvPr/>
        </p:nvPicPr>
        <p:blipFill rotWithShape="1">
          <a:blip r:embed="rId4">
            <a:alphaModFix/>
          </a:blip>
          <a:srcRect/>
          <a:stretch/>
        </p:blipFill>
        <p:spPr>
          <a:xfrm>
            <a:off x="15673389" y="49302"/>
            <a:ext cx="1761996" cy="457325"/>
          </a:xfrm>
          <a:prstGeom prst="rect">
            <a:avLst/>
          </a:prstGeom>
          <a:noFill/>
          <a:ln>
            <a:noFill/>
          </a:ln>
        </p:spPr>
      </p:pic>
      <p:sp>
        <p:nvSpPr>
          <p:cNvPr id="202" name="Google Shape;202;p3"/>
          <p:cNvSpPr/>
          <p:nvPr/>
        </p:nvSpPr>
        <p:spPr>
          <a:xfrm>
            <a:off x="7239000" y="2095501"/>
            <a:ext cx="10888312" cy="8000981"/>
          </a:xfrm>
          <a:custGeom>
            <a:avLst/>
            <a:gdLst/>
            <a:ahLst/>
            <a:cxnLst/>
            <a:rect l="l" t="t" r="r" b="b"/>
            <a:pathLst>
              <a:path w="16399511" h="7466330" extrusionOk="0">
                <a:moveTo>
                  <a:pt x="0" y="0"/>
                </a:moveTo>
                <a:lnTo>
                  <a:pt x="16399511" y="0"/>
                </a:lnTo>
                <a:lnTo>
                  <a:pt x="16399511" y="7466330"/>
                </a:lnTo>
                <a:lnTo>
                  <a:pt x="0" y="746633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3" name="Google Shape;203;p3"/>
          <p:cNvSpPr/>
          <p:nvPr/>
        </p:nvSpPr>
        <p:spPr>
          <a:xfrm>
            <a:off x="7239000" y="3742059"/>
            <a:ext cx="10891838" cy="6354423"/>
          </a:xfrm>
          <a:prstGeom prst="rect">
            <a:avLst/>
          </a:prstGeom>
          <a:solidFill>
            <a:srgbClr val="0C0C0C">
              <a:alpha val="60000"/>
            </a:srgbClr>
          </a:solidFill>
          <a:ln>
            <a:noFill/>
          </a:ln>
        </p:spPr>
        <p:txBody>
          <a:bodyPr spcFirstLastPara="1" wrap="square" lIns="91425" tIns="45700" rIns="91425" bIns="45700" anchor="ctr" anchorCtr="0">
            <a:noAutofit/>
          </a:bodyPr>
          <a:lstStyle/>
          <a:p>
            <a:pPr lvl="0">
              <a:buClr>
                <a:schemeClr val="dk1"/>
              </a:buClr>
              <a:buSzPts val="1800"/>
            </a:pPr>
            <a:r>
              <a:rPr lang="en-US" sz="2800" b="1" dirty="0">
                <a:solidFill>
                  <a:schemeClr val="lt1"/>
                </a:solidFill>
                <a:latin typeface="Georgia"/>
                <a:ea typeface="Georgia"/>
                <a:cs typeface="Georgia"/>
                <a:sym typeface="Georgia"/>
              </a:rPr>
              <a:t>At the brewery, please click the object below to access the current and proposed process steps;</a:t>
            </a:r>
          </a:p>
          <a:p>
            <a:pPr lvl="0">
              <a:buClr>
                <a:schemeClr val="dk1"/>
              </a:buClr>
              <a:buSzPts val="1800"/>
            </a:pPr>
            <a:endParaRPr lang="en-US" sz="2800" b="1" dirty="0">
              <a:solidFill>
                <a:schemeClr val="lt1"/>
              </a:solidFill>
              <a:latin typeface="Georgia"/>
              <a:ea typeface="Georgia"/>
              <a:cs typeface="Georgia"/>
              <a:sym typeface="Georgia"/>
            </a:endParaRPr>
          </a:p>
          <a:p>
            <a:pPr lvl="0">
              <a:buClr>
                <a:schemeClr val="dk1"/>
              </a:buClr>
              <a:buSzPts val="1800"/>
            </a:pPr>
            <a:endParaRPr lang="en-US" sz="2800" b="1" dirty="0">
              <a:solidFill>
                <a:schemeClr val="lt1"/>
              </a:solidFill>
              <a:latin typeface="Georgia"/>
              <a:ea typeface="Georgia"/>
              <a:cs typeface="Georgia"/>
              <a:sym typeface="Georgia"/>
            </a:endParaRPr>
          </a:p>
        </p:txBody>
      </p:sp>
      <p:sp>
        <p:nvSpPr>
          <p:cNvPr id="204" name="Google Shape;204;p3"/>
          <p:cNvSpPr txBox="1"/>
          <p:nvPr/>
        </p:nvSpPr>
        <p:spPr>
          <a:xfrm>
            <a:off x="8915400" y="2247900"/>
            <a:ext cx="8955741" cy="692437"/>
          </a:xfrm>
          <a:prstGeom prst="rect">
            <a:avLst/>
          </a:prstGeom>
          <a:noFill/>
          <a:ln>
            <a:noFill/>
          </a:ln>
        </p:spPr>
        <p:txBody>
          <a:bodyPr spcFirstLastPara="1" wrap="square" lIns="137125" tIns="68550" rIns="137125" bIns="68550" anchor="t" anchorCtr="0">
            <a:spAutoFit/>
          </a:bodyPr>
          <a:lstStyle/>
          <a:p>
            <a:pPr marL="0" marR="0" lvl="0" indent="0" algn="r" rtl="0">
              <a:spcBef>
                <a:spcPts val="0"/>
              </a:spcBef>
              <a:spcAft>
                <a:spcPts val="0"/>
              </a:spcAft>
              <a:buNone/>
            </a:pPr>
            <a:r>
              <a:rPr lang="en-US" sz="3600" b="1" dirty="0">
                <a:solidFill>
                  <a:schemeClr val="lt1"/>
                </a:solidFill>
                <a:latin typeface="Georgia"/>
                <a:ea typeface="Georgia"/>
                <a:cs typeface="Georgia"/>
                <a:sym typeface="Georgia"/>
              </a:rPr>
              <a:t>Current and Future Process flow</a:t>
            </a:r>
            <a:endParaRPr sz="2700" dirty="0">
              <a:solidFill>
                <a:schemeClr val="dk1"/>
              </a:solidFill>
              <a:latin typeface="Georgia"/>
              <a:ea typeface="Georgia"/>
              <a:cs typeface="Georgia"/>
              <a:sym typeface="Georgia"/>
            </a:endParaRPr>
          </a:p>
        </p:txBody>
      </p:sp>
      <p:grpSp>
        <p:nvGrpSpPr>
          <p:cNvPr id="205" name="Google Shape;205;p3"/>
          <p:cNvGrpSpPr/>
          <p:nvPr/>
        </p:nvGrpSpPr>
        <p:grpSpPr>
          <a:xfrm flipH="1">
            <a:off x="10516054" y="705690"/>
            <a:ext cx="7810046" cy="1124786"/>
            <a:chOff x="10744200" y="907230"/>
            <a:chExt cx="7810046" cy="1124786"/>
          </a:xfrm>
        </p:grpSpPr>
        <p:sp>
          <p:nvSpPr>
            <p:cNvPr id="206" name="Google Shape;206;p3"/>
            <p:cNvSpPr/>
            <p:nvPr/>
          </p:nvSpPr>
          <p:spPr>
            <a:xfrm>
              <a:off x="10744200" y="907230"/>
              <a:ext cx="6996398" cy="1094033"/>
            </a:xfrm>
            <a:custGeom>
              <a:avLst/>
              <a:gdLst/>
              <a:ahLst/>
              <a:cxnLst/>
              <a:rect l="l" t="t" r="r" b="b"/>
              <a:pathLst>
                <a:path w="9328531" h="1905381" extrusionOk="0">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7" name="Google Shape;207;p3"/>
            <p:cNvSpPr/>
            <p:nvPr/>
          </p:nvSpPr>
          <p:spPr>
            <a:xfrm>
              <a:off x="17512656"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sp>
          <p:nvSpPr>
            <p:cNvPr id="208" name="Google Shape;208;p3"/>
            <p:cNvSpPr/>
            <p:nvPr/>
          </p:nvSpPr>
          <p:spPr>
            <a:xfrm>
              <a:off x="17945313" y="93798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Calibri"/>
                <a:ea typeface="Calibri"/>
                <a:cs typeface="Calibri"/>
                <a:sym typeface="Calibri"/>
              </a:endParaRPr>
            </a:p>
          </p:txBody>
        </p:sp>
      </p:grpSp>
      <p:sp>
        <p:nvSpPr>
          <p:cNvPr id="209" name="Google Shape;209;p3"/>
          <p:cNvSpPr txBox="1"/>
          <p:nvPr/>
        </p:nvSpPr>
        <p:spPr>
          <a:xfrm>
            <a:off x="11565909" y="1010667"/>
            <a:ext cx="6375082" cy="551433"/>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sz="3600" b="1">
                <a:solidFill>
                  <a:srgbClr val="FFFFFF"/>
                </a:solidFill>
                <a:latin typeface="Georgia"/>
                <a:ea typeface="Georgia"/>
                <a:cs typeface="Georgia"/>
                <a:sym typeface="Georgia"/>
              </a:rPr>
              <a:t>Case Study Overview</a:t>
            </a:r>
            <a:endParaRPr/>
          </a:p>
        </p:txBody>
      </p:sp>
      <p:sp>
        <p:nvSpPr>
          <p:cNvPr id="210" name="Google Shape;210;p3"/>
          <p:cNvSpPr txBox="1"/>
          <p:nvPr/>
        </p:nvSpPr>
        <p:spPr>
          <a:xfrm>
            <a:off x="647700" y="3742059"/>
            <a:ext cx="5638800" cy="17542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FF00"/>
              </a:buClr>
              <a:buSzPts val="3600"/>
              <a:buFont typeface="Georgia"/>
              <a:buNone/>
            </a:pPr>
            <a:r>
              <a:rPr lang="en-US" sz="3600" b="1">
                <a:solidFill>
                  <a:srgbClr val="FFFF00"/>
                </a:solidFill>
                <a:latin typeface="Georgia"/>
                <a:ea typeface="Georgia"/>
                <a:cs typeface="Georgia"/>
                <a:sym typeface="Georgia"/>
              </a:rPr>
              <a:t>PNG ILLUSTRATION OF THE BUSINESS CHALLENGE</a:t>
            </a:r>
            <a:endParaRPr sz="5400" b="1">
              <a:solidFill>
                <a:srgbClr val="FFFF00"/>
              </a:solidFill>
              <a:latin typeface="Georgia"/>
              <a:ea typeface="Georgia"/>
              <a:cs typeface="Georgia"/>
              <a:sym typeface="Georgia"/>
            </a:endParaRPr>
          </a:p>
        </p:txBody>
      </p:sp>
      <p:pic>
        <p:nvPicPr>
          <p:cNvPr id="4" name="Picture 3">
            <a:extLst>
              <a:ext uri="{FF2B5EF4-FFF2-40B4-BE49-F238E27FC236}">
                <a16:creationId xmlns="" xmlns:a16="http://schemas.microsoft.com/office/drawing/2014/main" id="{935B16CE-9E12-490E-BA46-962E4D3D5942}"/>
              </a:ext>
            </a:extLst>
          </p:cNvPr>
          <p:cNvPicPr>
            <a:picLocks noChangeAspect="1"/>
          </p:cNvPicPr>
          <p:nvPr/>
        </p:nvPicPr>
        <p:blipFill>
          <a:blip r:embed="rId5">
            <a:extLst>
              <a:ext uri="{837473B0-CC2E-450A-ABE3-18F120FF3D39}">
                <a1611:picAttrSrcUrl xmlns="" xmlns:a1611="http://schemas.microsoft.com/office/drawing/2016/11/main" r:id="rId6"/>
              </a:ext>
            </a:extLst>
          </a:blip>
          <a:stretch>
            <a:fillRect/>
          </a:stretch>
        </p:blipFill>
        <p:spPr>
          <a:xfrm>
            <a:off x="0" y="2095500"/>
            <a:ext cx="6930674" cy="6026524"/>
          </a:xfrm>
          <a:prstGeom prst="rect">
            <a:avLst/>
          </a:prstGeom>
        </p:spPr>
      </p:pic>
      <p:graphicFrame>
        <p:nvGraphicFramePr>
          <p:cNvPr id="3" name="Object 2">
            <a:extLst>
              <a:ext uri="{FF2B5EF4-FFF2-40B4-BE49-F238E27FC236}">
                <a16:creationId xmlns="" xmlns:a16="http://schemas.microsoft.com/office/drawing/2014/main" id="{F00FB086-247F-4B4C-91AF-70164B0F9D94}"/>
              </a:ext>
            </a:extLst>
          </p:cNvPr>
          <p:cNvGraphicFramePr>
            <a:graphicFrameLocks noChangeAspect="1"/>
          </p:cNvGraphicFramePr>
          <p:nvPr>
            <p:extLst>
              <p:ext uri="{D42A27DB-BD31-4B8C-83A1-F6EECF244321}">
                <p14:modId xmlns:p14="http://schemas.microsoft.com/office/powerpoint/2010/main" val="1943288324"/>
              </p:ext>
            </p:extLst>
          </p:nvPr>
        </p:nvGraphicFramePr>
        <p:xfrm>
          <a:off x="10179424" y="7221071"/>
          <a:ext cx="4370294" cy="2528047"/>
        </p:xfrm>
        <a:graphic>
          <a:graphicData uri="http://schemas.openxmlformats.org/presentationml/2006/ole">
            <mc:AlternateContent xmlns:mc="http://schemas.openxmlformats.org/markup-compatibility/2006">
              <mc:Choice xmlns:v="urn:schemas-microsoft-com:vml" Requires="v">
                <p:oleObj spid="_x0000_s1052" name="Document" showAsIcon="1" r:id="rId8" imgW="914400" imgH="792360" progId="Word.Document.12">
                  <p:embed/>
                </p:oleObj>
              </mc:Choice>
              <mc:Fallback>
                <p:oleObj name="Document" showAsIcon="1" r:id="rId8" imgW="914400" imgH="792360" progId="Word.Document.12">
                  <p:embed/>
                  <p:pic>
                    <p:nvPicPr>
                      <p:cNvPr id="0" name=""/>
                      <p:cNvPicPr/>
                      <p:nvPr/>
                    </p:nvPicPr>
                    <p:blipFill>
                      <a:blip r:embed="rId9"/>
                      <a:stretch>
                        <a:fillRect/>
                      </a:stretch>
                    </p:blipFill>
                    <p:spPr>
                      <a:xfrm>
                        <a:off x="10179424" y="7221071"/>
                        <a:ext cx="4370294" cy="252804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3210112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pic>
        <p:nvPicPr>
          <p:cNvPr id="216" name="Google Shape;216;p4"/>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217" name="Google Shape;217;p4"/>
          <p:cNvSpPr/>
          <p:nvPr/>
        </p:nvSpPr>
        <p:spPr>
          <a:xfrm>
            <a:off x="0" y="6958469"/>
            <a:ext cx="18288000" cy="3328531"/>
          </a:xfrm>
          <a:custGeom>
            <a:avLst/>
            <a:gdLst/>
            <a:ahLst/>
            <a:cxnLst/>
            <a:rect l="l" t="t" r="r" b="b"/>
            <a:pathLst>
              <a:path w="24384000" h="4438041" extrusionOk="0">
                <a:moveTo>
                  <a:pt x="0" y="0"/>
                </a:moveTo>
                <a:lnTo>
                  <a:pt x="24384000" y="0"/>
                </a:lnTo>
                <a:lnTo>
                  <a:pt x="24384000" y="4438041"/>
                </a:lnTo>
                <a:lnTo>
                  <a:pt x="0" y="4438041"/>
                </a:lnTo>
                <a:close/>
              </a:path>
            </a:pathLst>
          </a:custGeom>
          <a:blipFill rotWithShape="1">
            <a:blip r:embed="rId4">
              <a:alphaModFix/>
            </a:blip>
            <a:stretch>
              <a:fillRect t="-120992" b="-8736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4"/>
          <p:cNvSpPr/>
          <p:nvPr/>
        </p:nvSpPr>
        <p:spPr>
          <a:xfrm>
            <a:off x="0" y="7044967"/>
            <a:ext cx="18288000" cy="3328531"/>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Arial"/>
              <a:ea typeface="Arial"/>
              <a:cs typeface="Arial"/>
              <a:sym typeface="Arial"/>
            </a:endParaRPr>
          </a:p>
        </p:txBody>
      </p:sp>
      <p:sp>
        <p:nvSpPr>
          <p:cNvPr id="219" name="Google Shape;219;p4"/>
          <p:cNvSpPr/>
          <p:nvPr/>
        </p:nvSpPr>
        <p:spPr>
          <a:xfrm>
            <a:off x="14207558" y="7200900"/>
            <a:ext cx="1819656" cy="1819656"/>
          </a:xfrm>
          <a:custGeom>
            <a:avLst/>
            <a:gdLst/>
            <a:ahLst/>
            <a:cxnLst/>
            <a:rect l="l" t="t" r="r" b="b"/>
            <a:pathLst>
              <a:path w="2426208" h="2426208" extrusionOk="0">
                <a:moveTo>
                  <a:pt x="0" y="1213104"/>
                </a:moveTo>
                <a:cubicBezTo>
                  <a:pt x="0" y="543179"/>
                  <a:pt x="543179" y="0"/>
                  <a:pt x="1213104" y="0"/>
                </a:cubicBezTo>
                <a:cubicBezTo>
                  <a:pt x="1883029" y="0"/>
                  <a:pt x="2426208" y="543179"/>
                  <a:pt x="2426208" y="1213104"/>
                </a:cubicBezTo>
                <a:cubicBezTo>
                  <a:pt x="2426208" y="1883029"/>
                  <a:pt x="1883029" y="2426208"/>
                  <a:pt x="1213104" y="2426208"/>
                </a:cubicBezTo>
                <a:cubicBezTo>
                  <a:pt x="543179" y="2426208"/>
                  <a:pt x="0" y="1883029"/>
                  <a:pt x="0" y="1213104"/>
                </a:cubicBez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4"/>
          <p:cNvSpPr/>
          <p:nvPr/>
        </p:nvSpPr>
        <p:spPr>
          <a:xfrm>
            <a:off x="8234170" y="7200900"/>
            <a:ext cx="1819656" cy="1819656"/>
          </a:xfrm>
          <a:custGeom>
            <a:avLst/>
            <a:gdLst/>
            <a:ahLst/>
            <a:cxnLst/>
            <a:rect l="l" t="t" r="r" b="b"/>
            <a:pathLst>
              <a:path w="2426208" h="2426208" extrusionOk="0">
                <a:moveTo>
                  <a:pt x="0" y="1213104"/>
                </a:moveTo>
                <a:cubicBezTo>
                  <a:pt x="0" y="543179"/>
                  <a:pt x="543179" y="0"/>
                  <a:pt x="1213104" y="0"/>
                </a:cubicBezTo>
                <a:cubicBezTo>
                  <a:pt x="1883029" y="0"/>
                  <a:pt x="2426208" y="543179"/>
                  <a:pt x="2426208" y="1213104"/>
                </a:cubicBezTo>
                <a:cubicBezTo>
                  <a:pt x="2426208" y="1883029"/>
                  <a:pt x="1883029" y="2426208"/>
                  <a:pt x="1213104" y="2426208"/>
                </a:cubicBezTo>
                <a:cubicBezTo>
                  <a:pt x="543179" y="2426208"/>
                  <a:pt x="0" y="1883029"/>
                  <a:pt x="0" y="1213104"/>
                </a:cubicBez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4"/>
          <p:cNvSpPr/>
          <p:nvPr/>
        </p:nvSpPr>
        <p:spPr>
          <a:xfrm>
            <a:off x="2260783" y="7133844"/>
            <a:ext cx="1819656" cy="1819656"/>
          </a:xfrm>
          <a:custGeom>
            <a:avLst/>
            <a:gdLst/>
            <a:ahLst/>
            <a:cxnLst/>
            <a:rect l="l" t="t" r="r" b="b"/>
            <a:pathLst>
              <a:path w="2426208" h="2426208" extrusionOk="0">
                <a:moveTo>
                  <a:pt x="0" y="1213104"/>
                </a:moveTo>
                <a:cubicBezTo>
                  <a:pt x="0" y="543179"/>
                  <a:pt x="543179" y="0"/>
                  <a:pt x="1213104" y="0"/>
                </a:cubicBezTo>
                <a:cubicBezTo>
                  <a:pt x="1883029" y="0"/>
                  <a:pt x="2426208" y="543179"/>
                  <a:pt x="2426208" y="1213104"/>
                </a:cubicBezTo>
                <a:cubicBezTo>
                  <a:pt x="2426208" y="1883029"/>
                  <a:pt x="1883029" y="2426208"/>
                  <a:pt x="1213104" y="2426208"/>
                </a:cubicBezTo>
                <a:cubicBezTo>
                  <a:pt x="543179" y="2426208"/>
                  <a:pt x="0" y="1883029"/>
                  <a:pt x="0" y="1213104"/>
                </a:cubicBez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2" name="Google Shape;222;p4"/>
          <p:cNvSpPr/>
          <p:nvPr/>
        </p:nvSpPr>
        <p:spPr>
          <a:xfrm>
            <a:off x="14746980" y="7724887"/>
            <a:ext cx="740816" cy="771683"/>
          </a:xfrm>
          <a:custGeom>
            <a:avLst/>
            <a:gdLst/>
            <a:ahLst/>
            <a:cxnLst/>
            <a:rect l="l" t="t" r="r" b="b"/>
            <a:pathLst>
              <a:path w="740816" h="771683" extrusionOk="0">
                <a:moveTo>
                  <a:pt x="0" y="0"/>
                </a:moveTo>
                <a:lnTo>
                  <a:pt x="740816" y="0"/>
                </a:lnTo>
                <a:lnTo>
                  <a:pt x="740816" y="771683"/>
                </a:lnTo>
                <a:lnTo>
                  <a:pt x="0" y="771683"/>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3" name="Google Shape;223;p4"/>
          <p:cNvSpPr/>
          <p:nvPr/>
        </p:nvSpPr>
        <p:spPr>
          <a:xfrm>
            <a:off x="2700074" y="7657831"/>
            <a:ext cx="941077" cy="771683"/>
          </a:xfrm>
          <a:custGeom>
            <a:avLst/>
            <a:gdLst/>
            <a:ahLst/>
            <a:cxnLst/>
            <a:rect l="l" t="t" r="r" b="b"/>
            <a:pathLst>
              <a:path w="941077" h="771683" extrusionOk="0">
                <a:moveTo>
                  <a:pt x="0" y="0"/>
                </a:moveTo>
                <a:lnTo>
                  <a:pt x="941077" y="0"/>
                </a:lnTo>
                <a:lnTo>
                  <a:pt x="941077" y="771683"/>
                </a:lnTo>
                <a:lnTo>
                  <a:pt x="0" y="771683"/>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4" name="Google Shape;224;p4"/>
          <p:cNvSpPr/>
          <p:nvPr/>
        </p:nvSpPr>
        <p:spPr>
          <a:xfrm>
            <a:off x="8692483" y="7724887"/>
            <a:ext cx="903034" cy="771683"/>
          </a:xfrm>
          <a:custGeom>
            <a:avLst/>
            <a:gdLst/>
            <a:ahLst/>
            <a:cxnLst/>
            <a:rect l="l" t="t" r="r" b="b"/>
            <a:pathLst>
              <a:path w="903034" h="771683" extrusionOk="0">
                <a:moveTo>
                  <a:pt x="0" y="0"/>
                </a:moveTo>
                <a:lnTo>
                  <a:pt x="903034" y="0"/>
                </a:lnTo>
                <a:lnTo>
                  <a:pt x="903034" y="771683"/>
                </a:lnTo>
                <a:lnTo>
                  <a:pt x="0" y="771683"/>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25" name="Google Shape;225;p4"/>
          <p:cNvPicPr preferRelativeResize="0"/>
          <p:nvPr/>
        </p:nvPicPr>
        <p:blipFill rotWithShape="1">
          <a:blip r:embed="rId8">
            <a:alphaModFix/>
          </a:blip>
          <a:srcRect/>
          <a:stretch/>
        </p:blipFill>
        <p:spPr>
          <a:xfrm>
            <a:off x="248787" y="181815"/>
            <a:ext cx="1781175" cy="523875"/>
          </a:xfrm>
          <a:prstGeom prst="rect">
            <a:avLst/>
          </a:prstGeom>
          <a:noFill/>
          <a:ln>
            <a:noFill/>
          </a:ln>
        </p:spPr>
      </p:pic>
      <p:grpSp>
        <p:nvGrpSpPr>
          <p:cNvPr id="226" name="Google Shape;226;p4"/>
          <p:cNvGrpSpPr/>
          <p:nvPr/>
        </p:nvGrpSpPr>
        <p:grpSpPr>
          <a:xfrm>
            <a:off x="0" y="1104817"/>
            <a:ext cx="7810046" cy="1094034"/>
            <a:chOff x="14016" y="1028700"/>
            <a:chExt cx="7810046" cy="1094034"/>
          </a:xfrm>
        </p:grpSpPr>
        <p:sp>
          <p:nvSpPr>
            <p:cNvPr id="227" name="Google Shape;227;p4"/>
            <p:cNvSpPr/>
            <p:nvPr/>
          </p:nvSpPr>
          <p:spPr>
            <a:xfrm>
              <a:off x="14016" y="1028700"/>
              <a:ext cx="6996398" cy="1094033"/>
            </a:xfrm>
            <a:custGeom>
              <a:avLst/>
              <a:gdLst/>
              <a:ahLst/>
              <a:cxnLst/>
              <a:rect l="l" t="t" r="r" b="b"/>
              <a:pathLst>
                <a:path w="9328531" h="1905381" extrusionOk="0">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sp>
          <p:nvSpPr>
            <p:cNvPr id="228" name="Google Shape;228;p4"/>
            <p:cNvSpPr/>
            <p:nvPr/>
          </p:nvSpPr>
          <p:spPr>
            <a:xfrm>
              <a:off x="6782472" y="1059456"/>
              <a:ext cx="608933" cy="1063278"/>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sp>
          <p:nvSpPr>
            <p:cNvPr id="229" name="Google Shape;229;p4"/>
            <p:cNvSpPr/>
            <p:nvPr/>
          </p:nvSpPr>
          <p:spPr>
            <a:xfrm>
              <a:off x="7215129" y="1059456"/>
              <a:ext cx="608933" cy="1063278"/>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grpSp>
      <p:sp>
        <p:nvSpPr>
          <p:cNvPr id="230" name="Google Shape;230;p4"/>
          <p:cNvSpPr txBox="1"/>
          <p:nvPr/>
        </p:nvSpPr>
        <p:spPr>
          <a:xfrm>
            <a:off x="294258" y="1219168"/>
            <a:ext cx="6563742" cy="8002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lt1"/>
              </a:buClr>
              <a:buSzPts val="2800"/>
              <a:buFont typeface="Georgia"/>
              <a:buNone/>
            </a:pPr>
            <a:r>
              <a:rPr lang="en-US" sz="2800" b="1">
                <a:solidFill>
                  <a:schemeClr val="lt1"/>
                </a:solidFill>
                <a:latin typeface="Georgia"/>
                <a:ea typeface="Georgia"/>
                <a:cs typeface="Georgia"/>
                <a:sym typeface="Georgia"/>
              </a:rPr>
              <a:t>Rationale for the Project</a:t>
            </a:r>
            <a:endParaRPr sz="1800">
              <a:solidFill>
                <a:schemeClr val="dk1"/>
              </a:solidFill>
              <a:latin typeface="Georgia"/>
              <a:ea typeface="Georgia"/>
              <a:cs typeface="Georgia"/>
              <a:sym typeface="Georgia"/>
            </a:endParaRPr>
          </a:p>
          <a:p>
            <a:pPr marL="0" marR="0" lvl="0" indent="0" algn="l" rtl="0">
              <a:spcBef>
                <a:spcPts val="0"/>
              </a:spcBef>
              <a:spcAft>
                <a:spcPts val="0"/>
              </a:spcAft>
              <a:buClr>
                <a:schemeClr val="lt1"/>
              </a:buClr>
              <a:buSzPts val="1800"/>
              <a:buFont typeface="Georgia"/>
              <a:buNone/>
            </a:pPr>
            <a:r>
              <a:rPr lang="en-US" sz="1800">
                <a:solidFill>
                  <a:schemeClr val="lt1"/>
                </a:solidFill>
                <a:latin typeface="Georgia"/>
                <a:ea typeface="Georgia"/>
                <a:cs typeface="Georgia"/>
                <a:sym typeface="Georgia"/>
              </a:rPr>
              <a:t>(What is the Importance of the project to the business)</a:t>
            </a:r>
            <a:endParaRPr sz="1800">
              <a:solidFill>
                <a:schemeClr val="dk1"/>
              </a:solidFill>
              <a:latin typeface="Georgia"/>
              <a:ea typeface="Georgia"/>
              <a:cs typeface="Georgia"/>
              <a:sym typeface="Georgia"/>
            </a:endParaRPr>
          </a:p>
        </p:txBody>
      </p:sp>
      <p:grpSp>
        <p:nvGrpSpPr>
          <p:cNvPr id="231" name="Google Shape;231;p4"/>
          <p:cNvGrpSpPr/>
          <p:nvPr/>
        </p:nvGrpSpPr>
        <p:grpSpPr>
          <a:xfrm>
            <a:off x="342900" y="3491369"/>
            <a:ext cx="17602200" cy="3380462"/>
            <a:chOff x="457200" y="3579704"/>
            <a:chExt cx="17602200" cy="3380462"/>
          </a:xfrm>
        </p:grpSpPr>
        <p:sp>
          <p:nvSpPr>
            <p:cNvPr id="232" name="Google Shape;232;p4"/>
            <p:cNvSpPr/>
            <p:nvPr/>
          </p:nvSpPr>
          <p:spPr>
            <a:xfrm>
              <a:off x="457200" y="3631635"/>
              <a:ext cx="5063738" cy="3328531"/>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Georgia"/>
                <a:ea typeface="Georgia"/>
                <a:cs typeface="Georgia"/>
                <a:sym typeface="Georgia"/>
              </a:endParaRPr>
            </a:p>
          </p:txBody>
        </p:sp>
        <p:sp>
          <p:nvSpPr>
            <p:cNvPr id="233" name="Google Shape;233;p4"/>
            <p:cNvSpPr txBox="1"/>
            <p:nvPr/>
          </p:nvSpPr>
          <p:spPr>
            <a:xfrm>
              <a:off x="1028700" y="3745141"/>
              <a:ext cx="4283825" cy="46166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b="1">
                  <a:solidFill>
                    <a:srgbClr val="DA6727"/>
                  </a:solidFill>
                  <a:latin typeface="Georgia"/>
                  <a:ea typeface="Georgia"/>
                  <a:cs typeface="Georgia"/>
                  <a:sym typeface="Georgia"/>
                </a:rPr>
                <a:t>1.</a:t>
              </a:r>
              <a:endParaRPr/>
            </a:p>
          </p:txBody>
        </p:sp>
        <p:sp>
          <p:nvSpPr>
            <p:cNvPr id="234" name="Google Shape;234;p4"/>
            <p:cNvSpPr txBox="1"/>
            <p:nvPr/>
          </p:nvSpPr>
          <p:spPr>
            <a:xfrm>
              <a:off x="692283" y="4273068"/>
              <a:ext cx="4647000" cy="2215991"/>
            </a:xfrm>
            <a:prstGeom prst="rect">
              <a:avLst/>
            </a:prstGeom>
            <a:noFill/>
            <a:ln>
              <a:noFill/>
            </a:ln>
          </p:spPr>
          <p:txBody>
            <a:bodyPr spcFirstLastPara="1" wrap="square" lIns="0" tIns="0" rIns="0" bIns="0" anchor="t" anchorCtr="0">
              <a:spAutoFit/>
            </a:bodyPr>
            <a:lstStyle/>
            <a:p>
              <a:pPr lvl="0" algn="ctr">
                <a:lnSpc>
                  <a:spcPct val="180000"/>
                </a:lnSpc>
                <a:buClr>
                  <a:schemeClr val="dk1"/>
                </a:buClr>
                <a:buSzPts val="1100"/>
              </a:pPr>
              <a:r>
                <a:rPr lang="en-US" sz="2000" b="1" dirty="0">
                  <a:solidFill>
                    <a:schemeClr val="lt1"/>
                  </a:solidFill>
                  <a:latin typeface="Georgia"/>
                  <a:ea typeface="Georgia"/>
                  <a:cs typeface="Georgia"/>
                  <a:sym typeface="Georgia"/>
                </a:rPr>
                <a:t>Increased efficiency </a:t>
              </a:r>
            </a:p>
            <a:p>
              <a:pPr lvl="0" algn="ctr">
                <a:lnSpc>
                  <a:spcPct val="180000"/>
                </a:lnSpc>
                <a:buClr>
                  <a:schemeClr val="dk1"/>
                </a:buClr>
                <a:buSzPts val="1100"/>
              </a:pPr>
              <a:r>
                <a:rPr lang="en-US" sz="2000" dirty="0">
                  <a:solidFill>
                    <a:schemeClr val="lt1"/>
                  </a:solidFill>
                  <a:latin typeface="Georgia"/>
                  <a:ea typeface="Georgia"/>
                  <a:cs typeface="Georgia"/>
                  <a:sym typeface="Georgia"/>
                </a:rPr>
                <a:t>Streamline administrative tasks by eliminating manual data transfer between disconnected systems.</a:t>
              </a:r>
              <a:endParaRPr sz="2000" dirty="0">
                <a:solidFill>
                  <a:schemeClr val="lt1"/>
                </a:solidFill>
                <a:latin typeface="Georgia"/>
                <a:ea typeface="Georgia"/>
                <a:cs typeface="Georgia"/>
                <a:sym typeface="Georgia"/>
              </a:endParaRPr>
            </a:p>
          </p:txBody>
        </p:sp>
        <p:sp>
          <p:nvSpPr>
            <p:cNvPr id="235" name="Google Shape;235;p4"/>
            <p:cNvSpPr/>
            <p:nvPr/>
          </p:nvSpPr>
          <p:spPr>
            <a:xfrm>
              <a:off x="12995662" y="3579704"/>
              <a:ext cx="5063738" cy="3328531"/>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Georgia"/>
                <a:ea typeface="Georgia"/>
                <a:cs typeface="Georgia"/>
                <a:sym typeface="Georgia"/>
              </a:endParaRPr>
            </a:p>
          </p:txBody>
        </p:sp>
        <p:sp>
          <p:nvSpPr>
            <p:cNvPr id="236" name="Google Shape;236;p4"/>
            <p:cNvSpPr txBox="1"/>
            <p:nvPr/>
          </p:nvSpPr>
          <p:spPr>
            <a:xfrm>
              <a:off x="13567162" y="3693210"/>
              <a:ext cx="4283825" cy="46166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b="1">
                  <a:solidFill>
                    <a:srgbClr val="DA6727"/>
                  </a:solidFill>
                  <a:latin typeface="Georgia"/>
                  <a:ea typeface="Georgia"/>
                  <a:cs typeface="Georgia"/>
                  <a:sym typeface="Georgia"/>
                </a:rPr>
                <a:t>3.</a:t>
              </a:r>
              <a:endParaRPr/>
            </a:p>
          </p:txBody>
        </p:sp>
        <p:sp>
          <p:nvSpPr>
            <p:cNvPr id="237" name="Google Shape;237;p4"/>
            <p:cNvSpPr txBox="1"/>
            <p:nvPr/>
          </p:nvSpPr>
          <p:spPr>
            <a:xfrm>
              <a:off x="13144500" y="4217175"/>
              <a:ext cx="4706400" cy="1661993"/>
            </a:xfrm>
            <a:prstGeom prst="rect">
              <a:avLst/>
            </a:prstGeom>
            <a:noFill/>
            <a:ln>
              <a:noFill/>
            </a:ln>
          </p:spPr>
          <p:txBody>
            <a:bodyPr spcFirstLastPara="1" wrap="square" lIns="0" tIns="0" rIns="0" bIns="0" anchor="t" anchorCtr="0">
              <a:spAutoFit/>
            </a:bodyPr>
            <a:lstStyle/>
            <a:p>
              <a:pPr marL="0" lvl="0" indent="0" algn="ctr" rtl="0">
                <a:lnSpc>
                  <a:spcPct val="180000"/>
                </a:lnSpc>
                <a:spcBef>
                  <a:spcPts val="0"/>
                </a:spcBef>
                <a:spcAft>
                  <a:spcPts val="0"/>
                </a:spcAft>
                <a:buClr>
                  <a:schemeClr val="dk1"/>
                </a:buClr>
                <a:buSzPts val="1100"/>
                <a:buFont typeface="Arial"/>
                <a:buNone/>
              </a:pPr>
              <a:r>
                <a:rPr lang="en-US" sz="2000" b="1" dirty="0">
                  <a:solidFill>
                    <a:schemeClr val="lt1"/>
                  </a:solidFill>
                  <a:latin typeface="Georgia"/>
                  <a:ea typeface="Georgia"/>
                  <a:cs typeface="Georgia"/>
                  <a:sym typeface="Georgia"/>
                </a:rPr>
                <a:t>Enable Data-driven decisions </a:t>
              </a:r>
              <a:endParaRPr sz="2000" b="1" dirty="0">
                <a:solidFill>
                  <a:schemeClr val="lt1"/>
                </a:solidFill>
                <a:latin typeface="Georgia"/>
                <a:ea typeface="Georgia"/>
                <a:cs typeface="Georgia"/>
                <a:sym typeface="Georgia"/>
              </a:endParaRPr>
            </a:p>
            <a:p>
              <a:pPr lvl="0" algn="ctr">
                <a:lnSpc>
                  <a:spcPct val="180000"/>
                </a:lnSpc>
              </a:pPr>
              <a:r>
                <a:rPr lang="en-US" sz="2000" dirty="0">
                  <a:solidFill>
                    <a:schemeClr val="lt1"/>
                  </a:solidFill>
                  <a:latin typeface="Georgia"/>
                  <a:ea typeface="Georgia"/>
                  <a:cs typeface="Georgia"/>
                  <a:sym typeface="Georgia"/>
                </a:rPr>
                <a:t>Offer comprehensive, integrated data for better reporting and strategic insights.</a:t>
              </a:r>
              <a:endParaRPr sz="2000" dirty="0">
                <a:solidFill>
                  <a:schemeClr val="lt1"/>
                </a:solidFill>
                <a:latin typeface="Georgia"/>
                <a:ea typeface="Georgia"/>
                <a:cs typeface="Georgia"/>
                <a:sym typeface="Georgia"/>
              </a:endParaRPr>
            </a:p>
          </p:txBody>
        </p:sp>
        <p:sp>
          <p:nvSpPr>
            <p:cNvPr id="238" name="Google Shape;238;p4"/>
            <p:cNvSpPr/>
            <p:nvPr/>
          </p:nvSpPr>
          <p:spPr>
            <a:xfrm>
              <a:off x="6743700" y="3631635"/>
              <a:ext cx="5063738" cy="3328531"/>
            </a:xfrm>
            <a:prstGeom prst="rect">
              <a:avLst/>
            </a:prstGeom>
            <a:solidFill>
              <a:srgbClr val="0C0C0C">
                <a:alpha val="6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Georgia"/>
                <a:ea typeface="Georgia"/>
                <a:cs typeface="Georgia"/>
                <a:sym typeface="Georgia"/>
              </a:endParaRPr>
            </a:p>
          </p:txBody>
        </p:sp>
        <p:sp>
          <p:nvSpPr>
            <p:cNvPr id="239" name="Google Shape;239;p4"/>
            <p:cNvSpPr txBox="1"/>
            <p:nvPr/>
          </p:nvSpPr>
          <p:spPr>
            <a:xfrm>
              <a:off x="7315200" y="3745141"/>
              <a:ext cx="4283825" cy="46166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b="1">
                  <a:solidFill>
                    <a:srgbClr val="DA6727"/>
                  </a:solidFill>
                  <a:latin typeface="Georgia"/>
                  <a:ea typeface="Georgia"/>
                  <a:cs typeface="Georgia"/>
                  <a:sym typeface="Georgia"/>
                </a:rPr>
                <a:t>2.</a:t>
              </a:r>
              <a:endParaRPr/>
            </a:p>
          </p:txBody>
        </p:sp>
        <p:sp>
          <p:nvSpPr>
            <p:cNvPr id="240" name="Google Shape;240;p4"/>
            <p:cNvSpPr txBox="1"/>
            <p:nvPr/>
          </p:nvSpPr>
          <p:spPr>
            <a:xfrm>
              <a:off x="7110698" y="4273068"/>
              <a:ext cx="4716300" cy="2215991"/>
            </a:xfrm>
            <a:prstGeom prst="rect">
              <a:avLst/>
            </a:prstGeom>
            <a:noFill/>
            <a:ln>
              <a:noFill/>
            </a:ln>
          </p:spPr>
          <p:txBody>
            <a:bodyPr spcFirstLastPara="1" wrap="square" lIns="0" tIns="0" rIns="0" bIns="0" anchor="t" anchorCtr="0">
              <a:spAutoFit/>
            </a:bodyPr>
            <a:lstStyle/>
            <a:p>
              <a:pPr marL="0" lvl="0" indent="0" algn="ctr" rtl="0">
                <a:lnSpc>
                  <a:spcPct val="180000"/>
                </a:lnSpc>
                <a:spcBef>
                  <a:spcPts val="0"/>
                </a:spcBef>
                <a:spcAft>
                  <a:spcPts val="0"/>
                </a:spcAft>
                <a:buClr>
                  <a:schemeClr val="dk1"/>
                </a:buClr>
                <a:buSzPts val="1100"/>
                <a:buFont typeface="Arial"/>
                <a:buNone/>
              </a:pPr>
              <a:r>
                <a:rPr lang="en-US" sz="2000" b="1" dirty="0">
                  <a:solidFill>
                    <a:schemeClr val="lt1"/>
                  </a:solidFill>
                  <a:latin typeface="Georgia"/>
                  <a:ea typeface="Georgia"/>
                  <a:cs typeface="Georgia"/>
                  <a:sym typeface="Georgia"/>
                </a:rPr>
                <a:t>Improved Student’s experience</a:t>
              </a:r>
              <a:endParaRPr sz="2000" b="1" dirty="0">
                <a:solidFill>
                  <a:schemeClr val="lt1"/>
                </a:solidFill>
                <a:latin typeface="Georgia"/>
                <a:ea typeface="Georgia"/>
                <a:cs typeface="Georgia"/>
                <a:sym typeface="Georgia"/>
              </a:endParaRPr>
            </a:p>
            <a:p>
              <a:pPr lvl="0" algn="ctr">
                <a:lnSpc>
                  <a:spcPct val="180000"/>
                </a:lnSpc>
              </a:pPr>
              <a:r>
                <a:rPr lang="en-US" sz="2000" dirty="0">
                  <a:solidFill>
                    <a:schemeClr val="lt1"/>
                  </a:solidFill>
                  <a:latin typeface="Georgia"/>
                  <a:ea typeface="Georgia"/>
                  <a:cs typeface="Georgia"/>
                  <a:sym typeface="Georgia"/>
                </a:rPr>
                <a:t>Provide a unified platform for seamless access to all university services and information.</a:t>
              </a:r>
              <a:endParaRPr sz="2000" dirty="0">
                <a:solidFill>
                  <a:schemeClr val="lt1"/>
                </a:solidFill>
                <a:latin typeface="Georgia"/>
                <a:ea typeface="Georgia"/>
                <a:cs typeface="Georgia"/>
                <a:sym typeface="Georgia"/>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p8"/>
          <p:cNvPicPr preferRelativeResize="0"/>
          <p:nvPr/>
        </p:nvPicPr>
        <p:blipFill rotWithShape="1">
          <a:blip r:embed="rId3">
            <a:alphaModFix/>
          </a:blip>
          <a:srcRect/>
          <a:stretch/>
        </p:blipFill>
        <p:spPr>
          <a:xfrm>
            <a:off x="0" y="0"/>
            <a:ext cx="18288000" cy="10287000"/>
          </a:xfrm>
          <a:prstGeom prst="rect">
            <a:avLst/>
          </a:prstGeom>
          <a:blipFill rotWithShape="1">
            <a:blip r:embed="rId4">
              <a:alphaModFix/>
            </a:blip>
            <a:tile tx="0" ty="0" sx="100000" sy="100000" flip="none" algn="tl"/>
          </a:blipFill>
          <a:ln>
            <a:noFill/>
          </a:ln>
        </p:spPr>
      </p:pic>
      <p:sp>
        <p:nvSpPr>
          <p:cNvPr id="293" name="Google Shape;293;p8"/>
          <p:cNvSpPr/>
          <p:nvPr/>
        </p:nvSpPr>
        <p:spPr>
          <a:xfrm>
            <a:off x="7824062" y="0"/>
            <a:ext cx="10463938" cy="10286999"/>
          </a:xfrm>
          <a:prstGeom prst="rect">
            <a:avLst/>
          </a:prstGeom>
          <a:solidFill>
            <a:srgbClr val="0C0C0C">
              <a:alpha val="60000"/>
            </a:srgbClr>
          </a:solidFill>
          <a:ln>
            <a:noFill/>
          </a:ln>
        </p:spPr>
        <p:txBody>
          <a:bodyPr spcFirstLastPara="1" wrap="square" lIns="137125" tIns="68550" rIns="137125" bIns="68550" anchor="ctr" anchorCtr="0">
            <a:noAutofit/>
          </a:bodyPr>
          <a:lstStyle/>
          <a:p>
            <a:pPr marL="0" marR="0" lvl="0" indent="0" algn="ctr" rtl="0">
              <a:spcBef>
                <a:spcPts val="0"/>
              </a:spcBef>
              <a:spcAft>
                <a:spcPts val="0"/>
              </a:spcAft>
              <a:buNone/>
            </a:pPr>
            <a:endParaRPr sz="2700" dirty="0">
              <a:solidFill>
                <a:schemeClr val="lt1"/>
              </a:solidFill>
              <a:latin typeface="Poppins"/>
              <a:ea typeface="Poppins"/>
              <a:cs typeface="Poppins"/>
              <a:sym typeface="Poppins"/>
            </a:endParaRPr>
          </a:p>
        </p:txBody>
      </p:sp>
      <p:pic>
        <p:nvPicPr>
          <p:cNvPr id="294" name="Google Shape;294;p8"/>
          <p:cNvPicPr preferRelativeResize="0"/>
          <p:nvPr/>
        </p:nvPicPr>
        <p:blipFill rotWithShape="1">
          <a:blip r:embed="rId5">
            <a:alphaModFix/>
          </a:blip>
          <a:srcRect/>
          <a:stretch/>
        </p:blipFill>
        <p:spPr>
          <a:xfrm>
            <a:off x="248787" y="181815"/>
            <a:ext cx="1781175" cy="523875"/>
          </a:xfrm>
          <a:prstGeom prst="rect">
            <a:avLst/>
          </a:prstGeom>
          <a:noFill/>
          <a:ln>
            <a:noFill/>
          </a:ln>
        </p:spPr>
      </p:pic>
      <p:sp>
        <p:nvSpPr>
          <p:cNvPr id="295" name="Google Shape;295;p8"/>
          <p:cNvSpPr/>
          <p:nvPr/>
        </p:nvSpPr>
        <p:spPr>
          <a:xfrm>
            <a:off x="14016" y="1028700"/>
            <a:ext cx="6996398" cy="1094033"/>
          </a:xfrm>
          <a:custGeom>
            <a:avLst/>
            <a:gdLst/>
            <a:ahLst/>
            <a:cxnLst/>
            <a:rect l="l" t="t" r="r" b="b"/>
            <a:pathLst>
              <a:path w="9328531" h="1905381" extrusionOk="0">
                <a:moveTo>
                  <a:pt x="0" y="0"/>
                </a:moveTo>
                <a:lnTo>
                  <a:pt x="1744853" y="0"/>
                </a:lnTo>
                <a:lnTo>
                  <a:pt x="7583678" y="0"/>
                </a:lnTo>
                <a:lnTo>
                  <a:pt x="9328531" y="0"/>
                </a:lnTo>
                <a:lnTo>
                  <a:pt x="8852154" y="1905381"/>
                </a:lnTo>
                <a:lnTo>
                  <a:pt x="7107301" y="1905381"/>
                </a:lnTo>
                <a:lnTo>
                  <a:pt x="1744853" y="1905381"/>
                </a:lnTo>
                <a:lnTo>
                  <a:pt x="0" y="1905381"/>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sp>
        <p:nvSpPr>
          <p:cNvPr id="296" name="Google Shape;296;p8"/>
          <p:cNvSpPr/>
          <p:nvPr/>
        </p:nvSpPr>
        <p:spPr>
          <a:xfrm>
            <a:off x="6782472" y="105945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sp>
        <p:nvSpPr>
          <p:cNvPr id="297" name="Google Shape;297;p8"/>
          <p:cNvSpPr/>
          <p:nvPr/>
        </p:nvSpPr>
        <p:spPr>
          <a:xfrm>
            <a:off x="7215129" y="1059455"/>
            <a:ext cx="608933" cy="1094031"/>
          </a:xfrm>
          <a:custGeom>
            <a:avLst/>
            <a:gdLst/>
            <a:ahLst/>
            <a:cxnLst/>
            <a:rect l="l" t="t" r="r" b="b"/>
            <a:pathLst>
              <a:path w="811911" h="1905381" extrusionOk="0">
                <a:moveTo>
                  <a:pt x="476377" y="0"/>
                </a:moveTo>
                <a:lnTo>
                  <a:pt x="811911" y="0"/>
                </a:lnTo>
                <a:lnTo>
                  <a:pt x="335534" y="1905381"/>
                </a:lnTo>
                <a:lnTo>
                  <a:pt x="0" y="1905381"/>
                </a:lnTo>
                <a:lnTo>
                  <a:pt x="476377" y="0"/>
                </a:lnTo>
                <a:close/>
              </a:path>
            </a:pathLst>
          </a:custGeom>
          <a:solidFill>
            <a:srgbClr val="97480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DA6727"/>
              </a:solidFill>
              <a:highlight>
                <a:srgbClr val="DA6727"/>
              </a:highlight>
              <a:latin typeface="Georgia"/>
              <a:ea typeface="Georgia"/>
              <a:cs typeface="Georgia"/>
              <a:sym typeface="Georgia"/>
            </a:endParaRPr>
          </a:p>
        </p:txBody>
      </p:sp>
      <p:sp>
        <p:nvSpPr>
          <p:cNvPr id="298" name="Google Shape;298;p8"/>
          <p:cNvSpPr txBox="1"/>
          <p:nvPr/>
        </p:nvSpPr>
        <p:spPr>
          <a:xfrm>
            <a:off x="324674" y="1142740"/>
            <a:ext cx="6375082" cy="663580"/>
          </a:xfrm>
          <a:prstGeom prst="rect">
            <a:avLst/>
          </a:prstGeom>
          <a:noFill/>
          <a:ln>
            <a:noFill/>
          </a:ln>
        </p:spPr>
        <p:txBody>
          <a:bodyPr spcFirstLastPara="1" wrap="square" lIns="0" tIns="0" rIns="0" bIns="0" anchor="t" anchorCtr="0">
            <a:spAutoFit/>
          </a:bodyPr>
          <a:lstStyle/>
          <a:p>
            <a:pPr marL="0" marR="0" lvl="0" indent="0" algn="l" rtl="0">
              <a:lnSpc>
                <a:spcPct val="154285"/>
              </a:lnSpc>
              <a:spcBef>
                <a:spcPts val="0"/>
              </a:spcBef>
              <a:spcAft>
                <a:spcPts val="0"/>
              </a:spcAft>
              <a:buNone/>
            </a:pPr>
            <a:r>
              <a:rPr lang="en-US" sz="2800" b="1" dirty="0">
                <a:solidFill>
                  <a:srgbClr val="FFFFFF"/>
                </a:solidFill>
                <a:latin typeface="Georgia"/>
                <a:ea typeface="Georgia"/>
                <a:cs typeface="Georgia"/>
                <a:sym typeface="Georgia"/>
              </a:rPr>
              <a:t>Case Study Task </a:t>
            </a:r>
            <a:endParaRPr dirty="0"/>
          </a:p>
        </p:txBody>
      </p:sp>
      <p:sp>
        <p:nvSpPr>
          <p:cNvPr id="308" name="Google Shape;308;p8"/>
          <p:cNvSpPr txBox="1"/>
          <p:nvPr/>
        </p:nvSpPr>
        <p:spPr>
          <a:xfrm>
            <a:off x="7913267" y="46784"/>
            <a:ext cx="10050060" cy="11218456"/>
          </a:xfrm>
          <a:prstGeom prst="rect">
            <a:avLst/>
          </a:prstGeom>
          <a:noFill/>
          <a:ln w="9525" cap="flat" cmpd="sng">
            <a:solidFill>
              <a:schemeClr val="lt1"/>
            </a:solidFill>
            <a:prstDash val="dash"/>
            <a:round/>
            <a:headEnd type="none" w="sm" len="sm"/>
            <a:tailEnd type="none" w="sm" len="sm"/>
          </a:ln>
        </p:spPr>
        <p:txBody>
          <a:bodyPr spcFirstLastPara="1" wrap="square" lIns="0" tIns="0" rIns="0" bIns="0" anchor="t" anchorCtr="0">
            <a:spAutoFit/>
          </a:bodyPr>
          <a:lstStyle/>
          <a:p>
            <a:pPr algn="just">
              <a:lnSpc>
                <a:spcPct val="200000"/>
              </a:lnSpc>
            </a:pPr>
            <a:r>
              <a:rPr lang="en-US" sz="1800" dirty="0">
                <a:solidFill>
                  <a:schemeClr val="lt1"/>
                </a:solidFill>
                <a:latin typeface="Georgia"/>
                <a:ea typeface="Georgia"/>
                <a:cs typeface="Georgia"/>
                <a:sym typeface="Georgia"/>
              </a:rPr>
              <a:t> </a:t>
            </a:r>
            <a:r>
              <a:rPr lang="en-US" sz="2800" dirty="0">
                <a:solidFill>
                  <a:schemeClr val="lt1"/>
                </a:solidFill>
                <a:latin typeface="Georgia"/>
                <a:ea typeface="Georgia"/>
                <a:cs typeface="Georgia"/>
                <a:sym typeface="Georgia"/>
              </a:rPr>
              <a:t>Using the Case Study; </a:t>
            </a:r>
          </a:p>
          <a:p>
            <a:pPr marL="514350" indent="-514350" algn="just">
              <a:lnSpc>
                <a:spcPct val="200000"/>
              </a:lnSpc>
              <a:buClr>
                <a:schemeClr val="bg1"/>
              </a:buClr>
              <a:buAutoNum type="arabicPeriod"/>
            </a:pPr>
            <a:r>
              <a:rPr lang="en-US" sz="2800" dirty="0">
                <a:solidFill>
                  <a:schemeClr val="lt1"/>
                </a:solidFill>
                <a:latin typeface="Georgia"/>
                <a:ea typeface="Georgia"/>
                <a:cs typeface="Georgia"/>
                <a:sym typeface="Georgia"/>
              </a:rPr>
              <a:t>Gap Identification: Based on the information provided, identify the specific gaps between the current state and the desired state. </a:t>
            </a:r>
          </a:p>
          <a:p>
            <a:pPr marL="514350" indent="-514350" algn="just">
              <a:lnSpc>
                <a:spcPct val="200000"/>
              </a:lnSpc>
              <a:buClr>
                <a:schemeClr val="bg1"/>
              </a:buClr>
              <a:buAutoNum type="arabicPeriod"/>
            </a:pPr>
            <a:r>
              <a:rPr lang="en-US" sz="2800" dirty="0">
                <a:solidFill>
                  <a:schemeClr val="lt1"/>
                </a:solidFill>
                <a:latin typeface="Georgia"/>
                <a:ea typeface="Georgia"/>
                <a:cs typeface="Georgia"/>
                <a:sym typeface="Georgia"/>
              </a:rPr>
              <a:t>Issue  Categorization: Categorize the issues you've identified into the various source category using the fishbone diagram. </a:t>
            </a:r>
          </a:p>
          <a:p>
            <a:pPr marL="514350" indent="-514350" algn="just">
              <a:lnSpc>
                <a:spcPct val="200000"/>
              </a:lnSpc>
              <a:buClr>
                <a:schemeClr val="bg1"/>
              </a:buClr>
              <a:buAutoNum type="arabicPeriod"/>
            </a:pPr>
            <a:r>
              <a:rPr lang="en-US" sz="2800" dirty="0">
                <a:solidFill>
                  <a:schemeClr val="lt1"/>
                </a:solidFill>
                <a:latin typeface="Georgia"/>
                <a:ea typeface="Georgia"/>
                <a:cs typeface="Georgia"/>
                <a:sym typeface="Georgia"/>
              </a:rPr>
              <a:t>Create a process map (flowchart) that visually represents the current process for brewing, from recipe planning to bottling. What actions should be taken to bridge the gap between the current and their desired state (proposed Solution) . Map out the proposed solution using swim lane diagram. </a:t>
            </a:r>
            <a:endParaRPr lang="en-US" sz="2000" dirty="0">
              <a:solidFill>
                <a:schemeClr val="lt1"/>
              </a:solidFill>
              <a:latin typeface="Georgia"/>
              <a:ea typeface="Georgia"/>
              <a:cs typeface="Georgia"/>
              <a:sym typeface="Georgia"/>
            </a:endParaRPr>
          </a:p>
          <a:p>
            <a:pPr algn="just">
              <a:lnSpc>
                <a:spcPct val="150000"/>
              </a:lnSpc>
            </a:pPr>
            <a:endParaRPr lang="en-US" sz="2000" dirty="0">
              <a:solidFill>
                <a:schemeClr val="lt1"/>
              </a:solidFill>
              <a:latin typeface="Georgia"/>
              <a:ea typeface="Georgia"/>
              <a:cs typeface="Georgia"/>
              <a:sym typeface="Georgia"/>
            </a:endParaRPr>
          </a:p>
          <a:p>
            <a:pPr lvl="0" algn="just">
              <a:lnSpc>
                <a:spcPct val="150000"/>
              </a:lnSpc>
            </a:pPr>
            <a:endParaRPr lang="en-US" sz="1800" dirty="0">
              <a:solidFill>
                <a:schemeClr val="lt1"/>
              </a:solidFill>
              <a:latin typeface="Georgia"/>
              <a:ea typeface="Georgia"/>
              <a:cs typeface="Georgia"/>
              <a:sym typeface="Georgia"/>
            </a:endParaRPr>
          </a:p>
        </p:txBody>
      </p:sp>
    </p:spTree>
    <p:extLst>
      <p:ext uri="{BB962C8B-B14F-4D97-AF65-F5344CB8AC3E}">
        <p14:creationId xmlns:p14="http://schemas.microsoft.com/office/powerpoint/2010/main" val="20193380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7450</TotalTime>
  <Words>706</Words>
  <Application>Microsoft Office PowerPoint</Application>
  <PresentationFormat>Custom</PresentationFormat>
  <Paragraphs>64</Paragraphs>
  <Slides>9</Slides>
  <Notes>9</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9</vt:i4>
      </vt:variant>
    </vt:vector>
  </HeadingPairs>
  <TitlesOfParts>
    <vt:vector size="18" baseType="lpstr">
      <vt:lpstr>Arial</vt:lpstr>
      <vt:lpstr>Georgia</vt:lpstr>
      <vt:lpstr>Calibri</vt:lpstr>
      <vt:lpstr>Poppins</vt:lpstr>
      <vt:lpstr>Play</vt:lpstr>
      <vt:lpstr>Wingdings</vt:lpstr>
      <vt:lpstr>Custom Design</vt:lpstr>
      <vt:lpstr>Office Theme</vt:lpstr>
      <vt:lpstr>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PRISCILLA FANAMA</dc:creator>
  <cp:lastModifiedBy>HP</cp:lastModifiedBy>
  <cp:revision>26</cp:revision>
  <dcterms:created xsi:type="dcterms:W3CDTF">2006-08-16T00:00:00Z</dcterms:created>
  <dcterms:modified xsi:type="dcterms:W3CDTF">2025-11-24T13:30:30Z</dcterms:modified>
</cp:coreProperties>
</file>